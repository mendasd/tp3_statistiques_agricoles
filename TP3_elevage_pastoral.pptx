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League Spartan" charset="1" panose="00000800000000000000"/>
      <p:regular r:id="rId23"/>
    </p:embeddedFont>
    <p:embeddedFont>
      <p:font typeface="TT Interphases" charset="1" panose="02000503020000020004"/>
      <p:regular r:id="rId24"/>
    </p:embeddedFont>
    <p:embeddedFont>
      <p:font typeface="TT Interphases Bold" charset="1" panose="02000803060000020004"/>
      <p:regular r:id="rId25"/>
    </p:embeddedFont>
    <p:embeddedFont>
      <p:font typeface="Canva Sans" charset="1" panose="020B0503030501040103"/>
      <p:regular r:id="rId26"/>
    </p:embeddedFont>
    <p:embeddedFont>
      <p:font typeface="Canva Sans Bold" charset="1" panose="020B0803030501040103"/>
      <p:regular r:id="rId27"/>
    </p:embeddedFont>
    <p:embeddedFont>
      <p:font typeface="Montserrat Medium" charset="1" panose="00000600000000000000"/>
      <p:regular r:id="rId28"/>
    </p:embeddedFont>
    <p:embeddedFont>
      <p:font typeface="Open Sans Italics" charset="1" panose="020B0606030504020204"/>
      <p:regular r:id="rId29"/>
    </p:embeddedFont>
    <p:embeddedFont>
      <p:font typeface="Open Sans Bold" charset="1" panose="020B0806030504020204"/>
      <p:regular r:id="rId30"/>
    </p:embeddedFont>
    <p:embeddedFont>
      <p:font typeface="Open Sans" charset="1" panose="020B060603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430" y="7134325"/>
            <a:ext cx="6484614" cy="64846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74240" y="-3891704"/>
            <a:ext cx="12148871" cy="12148871"/>
            <a:chOff x="0" y="0"/>
            <a:chExt cx="16198495" cy="1619849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6198495" cy="1619849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21000"/>
                    </a:srgbClr>
                  </a:gs>
                  <a:gs pos="100000">
                    <a:srgbClr val="2932FF">
                      <a:alpha val="21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56236" y="656236"/>
              <a:ext cx="14886024" cy="148860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65000"/>
                    </a:srgbClr>
                  </a:gs>
                  <a:gs pos="100000">
                    <a:srgbClr val="2932FF">
                      <a:alpha val="65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89197" y="1589197"/>
              <a:ext cx="13020101" cy="1302010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7000"/>
                    </a:srgbClr>
                  </a:gs>
                  <a:gs pos="100000">
                    <a:srgbClr val="2932FF">
                      <a:alpha val="57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482626" y="2482626"/>
              <a:ext cx="11233242" cy="1123324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413246" y="-1677475"/>
            <a:ext cx="7426882" cy="742688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5633" t="0" r="-563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78584" y="8831583"/>
            <a:ext cx="916071" cy="91607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50190" y="7536576"/>
            <a:ext cx="5179333" cy="517933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1276" r="0" b="-2127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516318" y="5880946"/>
            <a:ext cx="601574" cy="6015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7126" y="8230010"/>
            <a:ext cx="601574" cy="60157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62804" y="2317705"/>
            <a:ext cx="9470895" cy="34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83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TP3 : Elevage Pastorale</a:t>
            </a:r>
          </a:p>
          <a:p>
            <a:pPr algn="just">
              <a:lnSpc>
                <a:spcPts val="8966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0046045" y="4991026"/>
            <a:ext cx="2566956" cy="889920"/>
            <a:chOff x="0" y="0"/>
            <a:chExt cx="3422608" cy="118656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422608" cy="1186561"/>
              <a:chOff x="0" y="0"/>
              <a:chExt cx="775606" cy="26889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75606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775606">
                    <a:moveTo>
                      <a:pt x="0" y="0"/>
                    </a:moveTo>
                    <a:lnTo>
                      <a:pt x="775606" y="0"/>
                    </a:lnTo>
                    <a:lnTo>
                      <a:pt x="775606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75606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98352"/>
              <a:ext cx="3422608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487120" y="173311"/>
            <a:ext cx="1220301" cy="1220301"/>
          </a:xfrm>
          <a:custGeom>
            <a:avLst/>
            <a:gdLst/>
            <a:ahLst/>
            <a:cxnLst/>
            <a:rect r="r" b="b" t="t" l="l"/>
            <a:pathLst>
              <a:path h="1220301" w="1220301">
                <a:moveTo>
                  <a:pt x="0" y="0"/>
                </a:moveTo>
                <a:lnTo>
                  <a:pt x="1220301" y="0"/>
                </a:lnTo>
                <a:lnTo>
                  <a:pt x="1220301" y="1220301"/>
                </a:lnTo>
                <a:lnTo>
                  <a:pt x="0" y="1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821721" y="487181"/>
            <a:ext cx="7353061" cy="65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2677">
                <a:solidFill>
                  <a:srgbClr val="D6B6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ECOLE NATIONALE DE LA STATISTIQUE ET DE L’ANALYSE ECONOMIQUE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49044" y="6184419"/>
            <a:ext cx="6450441" cy="264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0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Réalisé par : </a:t>
            </a:r>
          </a:p>
          <a:p>
            <a:pPr algn="l">
              <a:lnSpc>
                <a:spcPts val="4243"/>
              </a:lnSpc>
            </a:pPr>
            <a:r>
              <a:rPr lang="en-US" sz="303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NZONDE David Christ, </a:t>
            </a:r>
          </a:p>
          <a:p>
            <a:pPr algn="l">
              <a:lnSpc>
                <a:spcPts val="4243"/>
              </a:lnSpc>
            </a:pPr>
            <a:r>
              <a:rPr lang="en-US" sz="303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Djekonbe Ndoasnan Armand  </a:t>
            </a:r>
            <a:r>
              <a:rPr lang="en-US" sz="30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Elèves Analystes Statisticiens   </a:t>
            </a:r>
          </a:p>
          <a:p>
            <a:pPr algn="l">
              <a:lnSpc>
                <a:spcPts val="4243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1678963" y="8946069"/>
            <a:ext cx="6920523" cy="155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D6B611"/>
                </a:solidFill>
                <a:latin typeface="Canva Sans"/>
                <a:ea typeface="Canva Sans"/>
                <a:cs typeface="Canva Sans"/>
                <a:sym typeface="Canva Sans"/>
              </a:rPr>
              <a:t>Encadré par : </a:t>
            </a:r>
            <a:r>
              <a:rPr lang="en-US" b="true" sz="2908">
                <a:solidFill>
                  <a:srgbClr val="D6B6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Rassoul Sy</a:t>
            </a:r>
            <a:r>
              <a:rPr lang="en-US" sz="2908">
                <a:solidFill>
                  <a:srgbClr val="D6B611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</a:p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sz="2708">
                <a:solidFill>
                  <a:srgbClr val="D6B611"/>
                </a:solidFill>
                <a:latin typeface="Canva Sans"/>
                <a:ea typeface="Canva Sans"/>
                <a:cs typeface="Canva Sans"/>
                <a:sym typeface="Canva Sans"/>
              </a:rPr>
              <a:t>Ingénieur statisticien économiste</a:t>
            </a:r>
          </a:p>
          <a:p>
            <a:pPr algn="ctr">
              <a:lnSpc>
                <a:spcPts val="1691"/>
              </a:lnSpc>
              <a:spcBef>
                <a:spcPct val="0"/>
              </a:spcBef>
            </a:pPr>
          </a:p>
          <a:p>
            <a:pPr algn="ctr">
              <a:lnSpc>
                <a:spcPts val="29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64769"/>
            <a:ext cx="16230600" cy="3970751"/>
            <a:chOff x="0" y="0"/>
            <a:chExt cx="2514545" cy="615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545" cy="615173"/>
            </a:xfrm>
            <a:custGeom>
              <a:avLst/>
              <a:gdLst/>
              <a:ahLst/>
              <a:cxnLst/>
              <a:rect r="r" b="b" t="t" l="l"/>
              <a:pathLst>
                <a:path h="615173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615173"/>
                  </a:lnTo>
                  <a:lnTo>
                    <a:pt x="0" y="615173"/>
                  </a:lnTo>
                  <a:close/>
                </a:path>
              </a:pathLst>
            </a:custGeom>
            <a:blipFill>
              <a:blip r:embed="rId2"/>
              <a:stretch>
                <a:fillRect l="0" t="-103874" r="0" b="-1038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537367" y="-967685"/>
            <a:ext cx="8635659" cy="8635659"/>
            <a:chOff x="0" y="0"/>
            <a:chExt cx="11514212" cy="1151421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1514212" cy="1151421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21000"/>
                    </a:srgbClr>
                  </a:gs>
                  <a:gs pos="100000">
                    <a:srgbClr val="2932FF">
                      <a:alpha val="21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66465" y="466465"/>
              <a:ext cx="10581281" cy="1058128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65000"/>
                    </a:srgbClr>
                  </a:gs>
                  <a:gs pos="100000">
                    <a:srgbClr val="2932FF">
                      <a:alpha val="65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29633" y="1129633"/>
              <a:ext cx="9254946" cy="9254946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7000"/>
                    </a:srgbClr>
                  </a:gs>
                  <a:gs pos="100000">
                    <a:srgbClr val="2932FF">
                      <a:alpha val="57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764700" y="1764700"/>
              <a:ext cx="7984812" cy="798481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-5693364" y="-1721331"/>
            <a:ext cx="28397197" cy="3086100"/>
            <a:chOff x="0" y="0"/>
            <a:chExt cx="7479097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79097" cy="812800"/>
            </a:xfrm>
            <a:custGeom>
              <a:avLst/>
              <a:gdLst/>
              <a:ahLst/>
              <a:cxnLst/>
              <a:rect r="r" b="b" t="t" l="l"/>
              <a:pathLst>
                <a:path h="812800" w="7479097">
                  <a:moveTo>
                    <a:pt x="0" y="0"/>
                  </a:moveTo>
                  <a:lnTo>
                    <a:pt x="7479097" y="0"/>
                  </a:lnTo>
                  <a:lnTo>
                    <a:pt x="74790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790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463047" y="5335520"/>
            <a:ext cx="24125450" cy="2927260"/>
            <a:chOff x="0" y="0"/>
            <a:chExt cx="6354028" cy="770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4028" cy="770966"/>
            </a:xfrm>
            <a:custGeom>
              <a:avLst/>
              <a:gdLst/>
              <a:ahLst/>
              <a:cxnLst/>
              <a:rect r="r" b="b" t="t" l="l"/>
              <a:pathLst>
                <a:path h="770966" w="6354028">
                  <a:moveTo>
                    <a:pt x="0" y="0"/>
                  </a:moveTo>
                  <a:lnTo>
                    <a:pt x="6354028" y="0"/>
                  </a:lnTo>
                  <a:lnTo>
                    <a:pt x="6354028" y="770966"/>
                  </a:lnTo>
                  <a:lnTo>
                    <a:pt x="0" y="7709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4028" cy="80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420562" y="560293"/>
            <a:ext cx="1449262" cy="10671445"/>
            <a:chOff x="0" y="0"/>
            <a:chExt cx="381699" cy="281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699" cy="2810586"/>
            </a:xfrm>
            <a:custGeom>
              <a:avLst/>
              <a:gdLst/>
              <a:ahLst/>
              <a:cxnLst/>
              <a:rect r="r" b="b" t="t" l="l"/>
              <a:pathLst>
                <a:path h="2810586" w="381699">
                  <a:moveTo>
                    <a:pt x="0" y="0"/>
                  </a:moveTo>
                  <a:lnTo>
                    <a:pt x="381699" y="0"/>
                  </a:lnTo>
                  <a:lnTo>
                    <a:pt x="381699" y="2810586"/>
                  </a:lnTo>
                  <a:lnTo>
                    <a:pt x="0" y="2810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1699" cy="2848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5896015"/>
            <a:ext cx="16230600" cy="3969027"/>
            <a:chOff x="0" y="0"/>
            <a:chExt cx="4274726" cy="10453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74726" cy="1045340"/>
            </a:xfrm>
            <a:custGeom>
              <a:avLst/>
              <a:gdLst/>
              <a:ahLst/>
              <a:cxnLst/>
              <a:rect r="r" b="b" t="t" l="l"/>
              <a:pathLst>
                <a:path h="104534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045340"/>
                  </a:lnTo>
                  <a:lnTo>
                    <a:pt x="0" y="104534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274726" cy="1083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7849" y="6096119"/>
            <a:ext cx="1193111" cy="889920"/>
            <a:chOff x="0" y="0"/>
            <a:chExt cx="1590815" cy="118656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7849" y="7132197"/>
            <a:ext cx="1193111" cy="889920"/>
            <a:chOff x="0" y="0"/>
            <a:chExt cx="1590815" cy="1186561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37849" y="8164993"/>
            <a:ext cx="1193111" cy="889920"/>
            <a:chOff x="0" y="0"/>
            <a:chExt cx="1590815" cy="1186561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0" y="6097760"/>
            <a:ext cx="1193111" cy="889920"/>
            <a:chOff x="0" y="0"/>
            <a:chExt cx="1590815" cy="118656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7133839"/>
            <a:ext cx="1193111" cy="889920"/>
            <a:chOff x="0" y="0"/>
            <a:chExt cx="1590815" cy="1186561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0" y="8166634"/>
            <a:ext cx="1193111" cy="889920"/>
            <a:chOff x="0" y="0"/>
            <a:chExt cx="1590815" cy="1186561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28700" y="480482"/>
            <a:ext cx="3868111" cy="54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88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Sommaire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40110" y="6162857"/>
            <a:ext cx="4516365" cy="68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840110" y="7220367"/>
            <a:ext cx="5722865" cy="68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Nettoyage de la base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40110" y="8233372"/>
            <a:ext cx="5895323" cy="138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Subsistance des ménages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918147" y="6162857"/>
            <a:ext cx="4516365" cy="68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Vente du bétail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18147" y="7220367"/>
            <a:ext cx="5867744" cy="68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Elevage et émigration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918147" y="8233372"/>
            <a:ext cx="4516365" cy="68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2193" y="-928307"/>
            <a:ext cx="12143613" cy="121436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27395" y="-273105"/>
            <a:ext cx="10833209" cy="1083320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467" y="1241377"/>
            <a:ext cx="5227523" cy="52275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672" t="0" r="-6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60605" y="5143500"/>
            <a:ext cx="5227523" cy="522752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136" t="0" r="-2513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614158" y="8342229"/>
            <a:ext cx="916071" cy="91607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75411" y="443506"/>
            <a:ext cx="585194" cy="58519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117444" y="2439022"/>
            <a:ext cx="9150564" cy="664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Mobilité du bétail</a:t>
            </a: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: stratégie clé des pasteurs et agropasteurs face aux défis climatiques et économiques.</a:t>
            </a:r>
          </a:p>
          <a:p>
            <a:pPr algn="just">
              <a:lnSpc>
                <a:spcPts val="3788"/>
              </a:lnSpc>
            </a:pP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Projet</a:t>
            </a: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: Renforcement de la Résilience à travers la Mobilité du Bétail en Afrique de l’Ouest.</a:t>
            </a:r>
          </a:p>
          <a:p>
            <a:pPr algn="just">
              <a:lnSpc>
                <a:spcPts val="3788"/>
              </a:lnSpc>
            </a:pP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Pays couverts</a:t>
            </a: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: Niger, Burkina Faso, Mali, Mauritanie, Sénégal.</a:t>
            </a:r>
          </a:p>
          <a:p>
            <a:pPr algn="just">
              <a:lnSpc>
                <a:spcPts val="3788"/>
              </a:lnSpc>
            </a:pP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</a:t>
            </a: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: analyser les stratégies de mobilité et le rôle de la transhumance dans la résilience.</a:t>
            </a:r>
          </a:p>
          <a:p>
            <a:pPr algn="just">
              <a:lnSpc>
                <a:spcPts val="3788"/>
              </a:lnSpc>
            </a:pPr>
          </a:p>
          <a:p>
            <a:pPr algn="just">
              <a:lnSpc>
                <a:spcPts val="378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80482"/>
            <a:ext cx="3868111" cy="54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88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90990" y="1085850"/>
            <a:ext cx="7162030" cy="77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82942" y="-1678833"/>
            <a:ext cx="10048730" cy="6503907"/>
            <a:chOff x="0" y="0"/>
            <a:chExt cx="2646579" cy="1712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6579" cy="1712963"/>
            </a:xfrm>
            <a:custGeom>
              <a:avLst/>
              <a:gdLst/>
              <a:ahLst/>
              <a:cxnLst/>
              <a:rect r="r" b="b" t="t" l="l"/>
              <a:pathLst>
                <a:path h="1712963" w="2646579">
                  <a:moveTo>
                    <a:pt x="77044" y="0"/>
                  </a:moveTo>
                  <a:lnTo>
                    <a:pt x="2569535" y="0"/>
                  </a:lnTo>
                  <a:cubicBezTo>
                    <a:pt x="2589968" y="0"/>
                    <a:pt x="2609565" y="8117"/>
                    <a:pt x="2624013" y="22566"/>
                  </a:cubicBezTo>
                  <a:cubicBezTo>
                    <a:pt x="2638462" y="37014"/>
                    <a:pt x="2646579" y="56610"/>
                    <a:pt x="2646579" y="77044"/>
                  </a:cubicBezTo>
                  <a:lnTo>
                    <a:pt x="2646579" y="1635920"/>
                  </a:lnTo>
                  <a:cubicBezTo>
                    <a:pt x="2646579" y="1656353"/>
                    <a:pt x="2638462" y="1675949"/>
                    <a:pt x="2624013" y="1690398"/>
                  </a:cubicBezTo>
                  <a:cubicBezTo>
                    <a:pt x="2609565" y="1704846"/>
                    <a:pt x="2589968" y="1712963"/>
                    <a:pt x="2569535" y="1712963"/>
                  </a:cubicBezTo>
                  <a:lnTo>
                    <a:pt x="77044" y="1712963"/>
                  </a:lnTo>
                  <a:cubicBezTo>
                    <a:pt x="56610" y="1712963"/>
                    <a:pt x="37014" y="1704846"/>
                    <a:pt x="22566" y="1690398"/>
                  </a:cubicBezTo>
                  <a:cubicBezTo>
                    <a:pt x="8117" y="1675949"/>
                    <a:pt x="0" y="1656353"/>
                    <a:pt x="0" y="1635920"/>
                  </a:cubicBezTo>
                  <a:lnTo>
                    <a:pt x="0" y="77044"/>
                  </a:lnTo>
                  <a:cubicBezTo>
                    <a:pt x="0" y="56610"/>
                    <a:pt x="8117" y="37014"/>
                    <a:pt x="22566" y="22566"/>
                  </a:cubicBezTo>
                  <a:cubicBezTo>
                    <a:pt x="37014" y="8117"/>
                    <a:pt x="56610" y="0"/>
                    <a:pt x="770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46579" cy="1751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3068" y="5143500"/>
            <a:ext cx="11437355" cy="6871097"/>
            <a:chOff x="0" y="0"/>
            <a:chExt cx="3012307" cy="1809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12307" cy="1809672"/>
            </a:xfrm>
            <a:custGeom>
              <a:avLst/>
              <a:gdLst/>
              <a:ahLst/>
              <a:cxnLst/>
              <a:rect r="r" b="b" t="t" l="l"/>
              <a:pathLst>
                <a:path h="1809672" w="3012307">
                  <a:moveTo>
                    <a:pt x="67690" y="0"/>
                  </a:moveTo>
                  <a:lnTo>
                    <a:pt x="2944618" y="0"/>
                  </a:lnTo>
                  <a:cubicBezTo>
                    <a:pt x="2982002" y="0"/>
                    <a:pt x="3012307" y="30306"/>
                    <a:pt x="3012307" y="67690"/>
                  </a:cubicBezTo>
                  <a:lnTo>
                    <a:pt x="3012307" y="1741982"/>
                  </a:lnTo>
                  <a:cubicBezTo>
                    <a:pt x="3012307" y="1779366"/>
                    <a:pt x="2982002" y="1809672"/>
                    <a:pt x="2944618" y="1809672"/>
                  </a:cubicBezTo>
                  <a:lnTo>
                    <a:pt x="67690" y="1809672"/>
                  </a:lnTo>
                  <a:cubicBezTo>
                    <a:pt x="30306" y="1809672"/>
                    <a:pt x="0" y="1779366"/>
                    <a:pt x="0" y="1741982"/>
                  </a:cubicBezTo>
                  <a:lnTo>
                    <a:pt x="0" y="67690"/>
                  </a:lnTo>
                  <a:cubicBezTo>
                    <a:pt x="0" y="30306"/>
                    <a:pt x="30306" y="0"/>
                    <a:pt x="676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12307" cy="1847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065788" y="5912733"/>
            <a:ext cx="8028281" cy="46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928" spc="11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FAMILLE PRATIQUANT L’AGRICULTURE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8864" y="2075648"/>
            <a:ext cx="7634205" cy="217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Taille moyenne : 19,99 EA</a:t>
            </a:r>
          </a:p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Plus élevées : Sénégal (25,26 EA), Burkina Faso (23,34 EA)</a:t>
            </a:r>
          </a:p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Plus faibles : Mauritanie (15,15 EA), Niger (16,96 EA)</a:t>
            </a:r>
          </a:p>
          <a:p>
            <a:pPr algn="just">
              <a:lnSpc>
                <a:spcPts val="3524"/>
              </a:lnSpc>
            </a:pPr>
          </a:p>
        </p:txBody>
      </p:sp>
      <p:sp>
        <p:nvSpPr>
          <p:cNvPr name="AutoShape 10" id="10"/>
          <p:cNvSpPr/>
          <p:nvPr/>
        </p:nvSpPr>
        <p:spPr>
          <a:xfrm rot="0">
            <a:off x="1028700" y="1787498"/>
            <a:ext cx="6495400" cy="50025"/>
          </a:xfrm>
          <a:prstGeom prst="rect">
            <a:avLst/>
          </a:prstGeom>
          <a:solidFill>
            <a:srgbClr val="0100FC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25218" y="1077821"/>
            <a:ext cx="6502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1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TAILLE MOYENNE EN EA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65788" y="6991321"/>
            <a:ext cx="8193512" cy="24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Plus de 50 % des familles font l’agriculture en complément de l’élevage :</a:t>
            </a:r>
          </a:p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Taux les plus élevés : Burkina Faso (100 %), Niger (94,29 %).</a:t>
            </a:r>
          </a:p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Autres pays : Mauritanie (62,86 %), Sénégal (60 %), Mali (57,14 %).</a:t>
            </a:r>
          </a:p>
          <a:p>
            <a:pPr algn="just">
              <a:lnSpc>
                <a:spcPts val="3225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rot="0">
            <a:off x="9199798" y="6694691"/>
            <a:ext cx="6495400" cy="50025"/>
          </a:xfrm>
          <a:prstGeom prst="rect">
            <a:avLst/>
          </a:prstGeom>
          <a:solidFill>
            <a:srgbClr val="0100FC"/>
          </a:solidFill>
        </p:spPr>
      </p:sp>
      <p:grpSp>
        <p:nvGrpSpPr>
          <p:cNvPr name="Group 14" id="14"/>
          <p:cNvGrpSpPr/>
          <p:nvPr/>
        </p:nvGrpSpPr>
        <p:grpSpPr>
          <a:xfrm rot="0">
            <a:off x="17252335" y="9228599"/>
            <a:ext cx="1000215" cy="1058401"/>
            <a:chOff x="0" y="0"/>
            <a:chExt cx="271167" cy="28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1167" cy="286941"/>
            </a:xfrm>
            <a:custGeom>
              <a:avLst/>
              <a:gdLst/>
              <a:ahLst/>
              <a:cxnLst/>
              <a:rect r="r" b="b" t="t" l="l"/>
              <a:pathLst>
                <a:path h="286941" w="271167">
                  <a:moveTo>
                    <a:pt x="135583" y="0"/>
                  </a:moveTo>
                  <a:lnTo>
                    <a:pt x="135583" y="0"/>
                  </a:lnTo>
                  <a:cubicBezTo>
                    <a:pt x="210464" y="0"/>
                    <a:pt x="271167" y="60703"/>
                    <a:pt x="271167" y="135583"/>
                  </a:cubicBezTo>
                  <a:lnTo>
                    <a:pt x="271167" y="151358"/>
                  </a:lnTo>
                  <a:cubicBezTo>
                    <a:pt x="271167" y="187317"/>
                    <a:pt x="256882" y="221803"/>
                    <a:pt x="231455" y="247230"/>
                  </a:cubicBezTo>
                  <a:cubicBezTo>
                    <a:pt x="206028" y="272656"/>
                    <a:pt x="171542" y="286941"/>
                    <a:pt x="135583" y="286941"/>
                  </a:cubicBezTo>
                  <a:lnTo>
                    <a:pt x="135583" y="286941"/>
                  </a:lnTo>
                  <a:cubicBezTo>
                    <a:pt x="60703" y="286941"/>
                    <a:pt x="0" y="226238"/>
                    <a:pt x="0" y="151358"/>
                  </a:cubicBezTo>
                  <a:lnTo>
                    <a:pt x="0" y="135583"/>
                  </a:lnTo>
                  <a:cubicBezTo>
                    <a:pt x="0" y="99624"/>
                    <a:pt x="14285" y="65138"/>
                    <a:pt x="39711" y="39711"/>
                  </a:cubicBezTo>
                  <a:cubicBezTo>
                    <a:pt x="65138" y="14285"/>
                    <a:pt x="99624" y="0"/>
                    <a:pt x="135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1167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25741" y="5044150"/>
            <a:ext cx="6880242" cy="5003813"/>
          </a:xfrm>
          <a:custGeom>
            <a:avLst/>
            <a:gdLst/>
            <a:ahLst/>
            <a:cxnLst/>
            <a:rect r="r" b="b" t="t" l="l"/>
            <a:pathLst>
              <a:path h="5003813" w="6880242">
                <a:moveTo>
                  <a:pt x="0" y="0"/>
                </a:moveTo>
                <a:lnTo>
                  <a:pt x="6880242" y="0"/>
                </a:lnTo>
                <a:lnTo>
                  <a:pt x="6880242" y="5003813"/>
                </a:lnTo>
                <a:lnTo>
                  <a:pt x="0" y="5003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02201" y="320054"/>
            <a:ext cx="6991868" cy="5078273"/>
          </a:xfrm>
          <a:custGeom>
            <a:avLst/>
            <a:gdLst/>
            <a:ahLst/>
            <a:cxnLst/>
            <a:rect r="r" b="b" t="t" l="l"/>
            <a:pathLst>
              <a:path h="5078273" w="6991868">
                <a:moveTo>
                  <a:pt x="0" y="0"/>
                </a:moveTo>
                <a:lnTo>
                  <a:pt x="6991868" y="0"/>
                </a:lnTo>
                <a:lnTo>
                  <a:pt x="6991868" y="5078273"/>
                </a:lnTo>
                <a:lnTo>
                  <a:pt x="0" y="5078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60266" y="253379"/>
            <a:ext cx="5908969" cy="54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88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Subsistance des ménages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85033" y="102790"/>
            <a:ext cx="458035" cy="4580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62186" y="4853893"/>
            <a:ext cx="380513" cy="38051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56868" y="5483273"/>
            <a:ext cx="458035" cy="4580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7985" y="55880"/>
            <a:ext cx="5144053" cy="4700759"/>
          </a:xfrm>
          <a:custGeom>
            <a:avLst/>
            <a:gdLst/>
            <a:ahLst/>
            <a:cxnLst/>
            <a:rect r="r" b="b" t="t" l="l"/>
            <a:pathLst>
              <a:path h="4700759" w="5144053">
                <a:moveTo>
                  <a:pt x="0" y="0"/>
                </a:moveTo>
                <a:lnTo>
                  <a:pt x="5144053" y="0"/>
                </a:lnTo>
                <a:lnTo>
                  <a:pt x="5144053" y="4700759"/>
                </a:lnTo>
                <a:lnTo>
                  <a:pt x="0" y="470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51104" y="55880"/>
            <a:ext cx="4978363" cy="4700759"/>
          </a:xfrm>
          <a:custGeom>
            <a:avLst/>
            <a:gdLst/>
            <a:ahLst/>
            <a:cxnLst/>
            <a:rect r="r" b="b" t="t" l="l"/>
            <a:pathLst>
              <a:path h="4700759" w="4978363">
                <a:moveTo>
                  <a:pt x="0" y="0"/>
                </a:moveTo>
                <a:lnTo>
                  <a:pt x="4978364" y="0"/>
                </a:lnTo>
                <a:lnTo>
                  <a:pt x="4978364" y="4700759"/>
                </a:lnTo>
                <a:lnTo>
                  <a:pt x="0" y="470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0532" y="5099394"/>
            <a:ext cx="5402639" cy="5071666"/>
          </a:xfrm>
          <a:custGeom>
            <a:avLst/>
            <a:gdLst/>
            <a:ahLst/>
            <a:cxnLst/>
            <a:rect r="r" b="b" t="t" l="l"/>
            <a:pathLst>
              <a:path h="5071666" w="5402639">
                <a:moveTo>
                  <a:pt x="0" y="0"/>
                </a:moveTo>
                <a:lnTo>
                  <a:pt x="5402638" y="0"/>
                </a:lnTo>
                <a:lnTo>
                  <a:pt x="5402638" y="5071666"/>
                </a:lnTo>
                <a:lnTo>
                  <a:pt x="0" y="507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43632" y="5055287"/>
            <a:ext cx="5314562" cy="5071666"/>
          </a:xfrm>
          <a:custGeom>
            <a:avLst/>
            <a:gdLst/>
            <a:ahLst/>
            <a:cxnLst/>
            <a:rect r="r" b="b" t="t" l="l"/>
            <a:pathLst>
              <a:path h="5071666" w="5314562">
                <a:moveTo>
                  <a:pt x="0" y="0"/>
                </a:moveTo>
                <a:lnTo>
                  <a:pt x="5314562" y="0"/>
                </a:lnTo>
                <a:lnTo>
                  <a:pt x="5314562" y="5071667"/>
                </a:lnTo>
                <a:lnTo>
                  <a:pt x="0" y="5071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22038" y="5143500"/>
            <a:ext cx="5436495" cy="4983454"/>
          </a:xfrm>
          <a:custGeom>
            <a:avLst/>
            <a:gdLst/>
            <a:ahLst/>
            <a:cxnLst/>
            <a:rect r="r" b="b" t="t" l="l"/>
            <a:pathLst>
              <a:path h="4983454" w="5436495">
                <a:moveTo>
                  <a:pt x="0" y="0"/>
                </a:moveTo>
                <a:lnTo>
                  <a:pt x="5436495" y="0"/>
                </a:lnTo>
                <a:lnTo>
                  <a:pt x="5436495" y="4983454"/>
                </a:lnTo>
                <a:lnTo>
                  <a:pt x="0" y="4983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4393" y="679421"/>
            <a:ext cx="5794917" cy="172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528" spc="1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PROPORTIONS DE CHAQUE CULTURE PAR PAYS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14614" y="249961"/>
            <a:ext cx="458035" cy="45803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4393" y="3743239"/>
            <a:ext cx="458035" cy="45803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circl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82942" y="-1678833"/>
            <a:ext cx="10048730" cy="6503907"/>
            <a:chOff x="0" y="0"/>
            <a:chExt cx="2646579" cy="1712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6579" cy="1712963"/>
            </a:xfrm>
            <a:custGeom>
              <a:avLst/>
              <a:gdLst/>
              <a:ahLst/>
              <a:cxnLst/>
              <a:rect r="r" b="b" t="t" l="l"/>
              <a:pathLst>
                <a:path h="1712963" w="2646579">
                  <a:moveTo>
                    <a:pt x="77044" y="0"/>
                  </a:moveTo>
                  <a:lnTo>
                    <a:pt x="2569535" y="0"/>
                  </a:lnTo>
                  <a:cubicBezTo>
                    <a:pt x="2589968" y="0"/>
                    <a:pt x="2609565" y="8117"/>
                    <a:pt x="2624013" y="22566"/>
                  </a:cubicBezTo>
                  <a:cubicBezTo>
                    <a:pt x="2638462" y="37014"/>
                    <a:pt x="2646579" y="56610"/>
                    <a:pt x="2646579" y="77044"/>
                  </a:cubicBezTo>
                  <a:lnTo>
                    <a:pt x="2646579" y="1635920"/>
                  </a:lnTo>
                  <a:cubicBezTo>
                    <a:pt x="2646579" y="1656353"/>
                    <a:pt x="2638462" y="1675949"/>
                    <a:pt x="2624013" y="1690398"/>
                  </a:cubicBezTo>
                  <a:cubicBezTo>
                    <a:pt x="2609565" y="1704846"/>
                    <a:pt x="2589968" y="1712963"/>
                    <a:pt x="2569535" y="1712963"/>
                  </a:cubicBezTo>
                  <a:lnTo>
                    <a:pt x="77044" y="1712963"/>
                  </a:lnTo>
                  <a:cubicBezTo>
                    <a:pt x="56610" y="1712963"/>
                    <a:pt x="37014" y="1704846"/>
                    <a:pt x="22566" y="1690398"/>
                  </a:cubicBezTo>
                  <a:cubicBezTo>
                    <a:pt x="8117" y="1675949"/>
                    <a:pt x="0" y="1656353"/>
                    <a:pt x="0" y="1635920"/>
                  </a:cubicBezTo>
                  <a:lnTo>
                    <a:pt x="0" y="77044"/>
                  </a:lnTo>
                  <a:cubicBezTo>
                    <a:pt x="0" y="56610"/>
                    <a:pt x="8117" y="37014"/>
                    <a:pt x="22566" y="22566"/>
                  </a:cubicBezTo>
                  <a:cubicBezTo>
                    <a:pt x="37014" y="8117"/>
                    <a:pt x="56610" y="0"/>
                    <a:pt x="770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46579" cy="1751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15719" y="1147735"/>
            <a:ext cx="8028281" cy="46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928" spc="11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AUTOSUFFISANCE  AGRICOLE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8864" y="2075648"/>
            <a:ext cx="7634205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Autosuffisance moyenne : 4 mois.</a:t>
            </a:r>
          </a:p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Niger : 6 mois.</a:t>
            </a:r>
          </a:p>
          <a:p>
            <a:pPr algn="just" marL="507364" indent="-253682" lvl="1">
              <a:lnSpc>
                <a:spcPts val="3524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Mali : 3 mois.</a:t>
            </a:r>
          </a:p>
          <a:p>
            <a:pPr algn="just">
              <a:lnSpc>
                <a:spcPts val="3524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>
            <a:off x="1028700" y="1787498"/>
            <a:ext cx="6495400" cy="50025"/>
          </a:xfrm>
          <a:prstGeom prst="rect">
            <a:avLst/>
          </a:prstGeom>
          <a:solidFill>
            <a:srgbClr val="171FD0"/>
          </a:solidFill>
        </p:spPr>
      </p:sp>
      <p:grpSp>
        <p:nvGrpSpPr>
          <p:cNvPr name="Group 8" id="8"/>
          <p:cNvGrpSpPr/>
          <p:nvPr/>
        </p:nvGrpSpPr>
        <p:grpSpPr>
          <a:xfrm rot="0">
            <a:off x="8243068" y="5143500"/>
            <a:ext cx="11437355" cy="6871097"/>
            <a:chOff x="0" y="0"/>
            <a:chExt cx="3012307" cy="1809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12307" cy="1809672"/>
            </a:xfrm>
            <a:custGeom>
              <a:avLst/>
              <a:gdLst/>
              <a:ahLst/>
              <a:cxnLst/>
              <a:rect r="r" b="b" t="t" l="l"/>
              <a:pathLst>
                <a:path h="1809672" w="3012307">
                  <a:moveTo>
                    <a:pt x="67690" y="0"/>
                  </a:moveTo>
                  <a:lnTo>
                    <a:pt x="2944618" y="0"/>
                  </a:lnTo>
                  <a:cubicBezTo>
                    <a:pt x="2982002" y="0"/>
                    <a:pt x="3012307" y="30306"/>
                    <a:pt x="3012307" y="67690"/>
                  </a:cubicBezTo>
                  <a:lnTo>
                    <a:pt x="3012307" y="1741982"/>
                  </a:lnTo>
                  <a:cubicBezTo>
                    <a:pt x="3012307" y="1779366"/>
                    <a:pt x="2982002" y="1809672"/>
                    <a:pt x="2944618" y="1809672"/>
                  </a:cubicBezTo>
                  <a:lnTo>
                    <a:pt x="67690" y="1809672"/>
                  </a:lnTo>
                  <a:cubicBezTo>
                    <a:pt x="30306" y="1809672"/>
                    <a:pt x="0" y="1779366"/>
                    <a:pt x="0" y="1741982"/>
                  </a:cubicBezTo>
                  <a:lnTo>
                    <a:pt x="0" y="67690"/>
                  </a:lnTo>
                  <a:cubicBezTo>
                    <a:pt x="0" y="30306"/>
                    <a:pt x="30306" y="0"/>
                    <a:pt x="676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12307" cy="1847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99798" y="5885066"/>
            <a:ext cx="6502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1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TAILLE DU CHEPTEL EN UBT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8823" y="7315590"/>
            <a:ext cx="8193512" cy="24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Taille moyenne du cheptel : 65,61 UBT.</a:t>
            </a:r>
          </a:p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Plus élevée : Mauritanie (88,01 UBT), Mali (76,47 UBT), Sénégal (71,89 UBT).</a:t>
            </a:r>
          </a:p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Plus faible : Burkina Faso (49,92 UBT), Niger (36,73 UBT).</a:t>
            </a:r>
          </a:p>
          <a:p>
            <a:pPr algn="just" marL="464186" indent="-232093" lvl="1">
              <a:lnSpc>
                <a:spcPts val="3225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Forte disparité entre les pays.</a:t>
            </a:r>
          </a:p>
          <a:p>
            <a:pPr algn="just">
              <a:lnSpc>
                <a:spcPts val="3225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rot="0">
            <a:off x="9199798" y="6694691"/>
            <a:ext cx="6495400" cy="50025"/>
          </a:xfrm>
          <a:prstGeom prst="rect">
            <a:avLst/>
          </a:prstGeom>
          <a:solidFill>
            <a:srgbClr val="171FD0"/>
          </a:solidFill>
        </p:spPr>
      </p:sp>
      <p:grpSp>
        <p:nvGrpSpPr>
          <p:cNvPr name="Group 14" id="14"/>
          <p:cNvGrpSpPr/>
          <p:nvPr/>
        </p:nvGrpSpPr>
        <p:grpSpPr>
          <a:xfrm rot="0">
            <a:off x="17252335" y="9228599"/>
            <a:ext cx="1000215" cy="1058401"/>
            <a:chOff x="0" y="0"/>
            <a:chExt cx="271167" cy="28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1167" cy="286941"/>
            </a:xfrm>
            <a:custGeom>
              <a:avLst/>
              <a:gdLst/>
              <a:ahLst/>
              <a:cxnLst/>
              <a:rect r="r" b="b" t="t" l="l"/>
              <a:pathLst>
                <a:path h="286941" w="271167">
                  <a:moveTo>
                    <a:pt x="135583" y="0"/>
                  </a:moveTo>
                  <a:lnTo>
                    <a:pt x="135583" y="0"/>
                  </a:lnTo>
                  <a:cubicBezTo>
                    <a:pt x="210464" y="0"/>
                    <a:pt x="271167" y="60703"/>
                    <a:pt x="271167" y="135583"/>
                  </a:cubicBezTo>
                  <a:lnTo>
                    <a:pt x="271167" y="151358"/>
                  </a:lnTo>
                  <a:cubicBezTo>
                    <a:pt x="271167" y="187317"/>
                    <a:pt x="256882" y="221803"/>
                    <a:pt x="231455" y="247230"/>
                  </a:cubicBezTo>
                  <a:cubicBezTo>
                    <a:pt x="206028" y="272656"/>
                    <a:pt x="171542" y="286941"/>
                    <a:pt x="135583" y="286941"/>
                  </a:cubicBezTo>
                  <a:lnTo>
                    <a:pt x="135583" y="286941"/>
                  </a:lnTo>
                  <a:cubicBezTo>
                    <a:pt x="60703" y="286941"/>
                    <a:pt x="0" y="226238"/>
                    <a:pt x="0" y="151358"/>
                  </a:cubicBezTo>
                  <a:lnTo>
                    <a:pt x="0" y="135583"/>
                  </a:lnTo>
                  <a:cubicBezTo>
                    <a:pt x="0" y="99624"/>
                    <a:pt x="14285" y="65138"/>
                    <a:pt x="39711" y="39711"/>
                  </a:cubicBezTo>
                  <a:cubicBezTo>
                    <a:pt x="65138" y="14285"/>
                    <a:pt x="99624" y="0"/>
                    <a:pt x="135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1167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761406" y="61126"/>
            <a:ext cx="6802275" cy="4784504"/>
          </a:xfrm>
          <a:custGeom>
            <a:avLst/>
            <a:gdLst/>
            <a:ahLst/>
            <a:cxnLst/>
            <a:rect r="r" b="b" t="t" l="l"/>
            <a:pathLst>
              <a:path h="4784504" w="6802275">
                <a:moveTo>
                  <a:pt x="0" y="0"/>
                </a:moveTo>
                <a:lnTo>
                  <a:pt x="6802275" y="0"/>
                </a:lnTo>
                <a:lnTo>
                  <a:pt x="6802275" y="4784504"/>
                </a:lnTo>
                <a:lnTo>
                  <a:pt x="0" y="478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76" r="0" b="-52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0842" y="5139400"/>
            <a:ext cx="7183258" cy="5098542"/>
          </a:xfrm>
          <a:custGeom>
            <a:avLst/>
            <a:gdLst/>
            <a:ahLst/>
            <a:cxnLst/>
            <a:rect r="r" b="b" t="t" l="l"/>
            <a:pathLst>
              <a:path h="5098542" w="7183258">
                <a:moveTo>
                  <a:pt x="0" y="0"/>
                </a:moveTo>
                <a:lnTo>
                  <a:pt x="7183258" y="0"/>
                </a:lnTo>
                <a:lnTo>
                  <a:pt x="7183258" y="5098542"/>
                </a:lnTo>
                <a:lnTo>
                  <a:pt x="0" y="509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2" r="0" b="-1232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259300" y="1161929"/>
            <a:ext cx="822385" cy="8223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4393" y="3743239"/>
            <a:ext cx="458035" cy="4580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212457" y="9299764"/>
            <a:ext cx="458035" cy="45803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19C2">
                    <a:alpha val="100000"/>
                  </a:srgbClr>
                </a:gs>
                <a:gs pos="100000">
                  <a:srgbClr val="293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28233" cy="62823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028700" y="480482"/>
            <a:ext cx="5991706" cy="58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</a:pPr>
            <a:r>
              <a:rPr lang="en-US" sz="3466" spc="9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Indicateur de viabilité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94512" y="2013822"/>
            <a:ext cx="7329873" cy="7486328"/>
            <a:chOff x="0" y="0"/>
            <a:chExt cx="1930502" cy="1971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0502" cy="1971708"/>
            </a:xfrm>
            <a:custGeom>
              <a:avLst/>
              <a:gdLst/>
              <a:ahLst/>
              <a:cxnLst/>
              <a:rect r="r" b="b" t="t" l="l"/>
              <a:pathLst>
                <a:path h="1971708" w="1930502">
                  <a:moveTo>
                    <a:pt x="0" y="0"/>
                  </a:moveTo>
                  <a:lnTo>
                    <a:pt x="1930502" y="0"/>
                  </a:lnTo>
                  <a:lnTo>
                    <a:pt x="1930502" y="1971708"/>
                  </a:lnTo>
                  <a:lnTo>
                    <a:pt x="0" y="197170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0502" cy="200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859597" y="2571827"/>
            <a:ext cx="6399703" cy="569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Viabilité de l’élevage (UBT/EA) moyenne : 4,42.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Plus élevé : Mauritanie (9,02 → forte dépendance).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Plus faible : Burkina Faso (2,42 → moindre viabilité).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Autres : Mali (4,07), Sénégal (3,45).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3054" y="2255673"/>
            <a:ext cx="9628613" cy="7002627"/>
          </a:xfrm>
          <a:custGeom>
            <a:avLst/>
            <a:gdLst/>
            <a:ahLst/>
            <a:cxnLst/>
            <a:rect r="r" b="b" t="t" l="l"/>
            <a:pathLst>
              <a:path h="7002627" w="9628613">
                <a:moveTo>
                  <a:pt x="0" y="0"/>
                </a:moveTo>
                <a:lnTo>
                  <a:pt x="9628613" y="0"/>
                </a:lnTo>
                <a:lnTo>
                  <a:pt x="9628613" y="7002627"/>
                </a:lnTo>
                <a:lnTo>
                  <a:pt x="0" y="7002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1679563"/>
            <a:ext cx="15849911" cy="4640184"/>
          </a:xfrm>
          <a:custGeom>
            <a:avLst/>
            <a:gdLst/>
            <a:ahLst/>
            <a:cxnLst/>
            <a:rect r="r" b="b" t="t" l="l"/>
            <a:pathLst>
              <a:path h="4640184" w="15849911">
                <a:moveTo>
                  <a:pt x="0" y="0"/>
                </a:moveTo>
                <a:lnTo>
                  <a:pt x="15849911" y="0"/>
                </a:lnTo>
                <a:lnTo>
                  <a:pt x="15849911" y="4640184"/>
                </a:lnTo>
                <a:lnTo>
                  <a:pt x="0" y="464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" t="0" r="-546" b="-2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2911" y="7480613"/>
            <a:ext cx="12903398" cy="22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rix moyen : 138 436 FCFA.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Extrêmes : Mali (146 467 FCFA, le plus élevé), Niger (123 282 FCFA, le plus bas).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Forte variabilité : Sénégal et Mauritanie (prix entre 20 000 et 450 000 FCFA).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Dispersion élevée : Sénégal et Mauritanie → écarts types plus importants.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4161629" y="6253072"/>
            <a:ext cx="172593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true">
                <a:solidFill>
                  <a:srgbClr val="083B3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Source: Base fournie, calculs de l’auteur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895039" y="840093"/>
            <a:ext cx="17259300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Quelques statistiques sur les prix de vente du bétail par pays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" y="191652"/>
            <a:ext cx="5908969" cy="54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88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Vente de bétail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59387" y="2454706"/>
            <a:ext cx="18288000" cy="8816710"/>
            <a:chOff x="0" y="0"/>
            <a:chExt cx="4816593" cy="2322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322096"/>
            </a:xfrm>
            <a:custGeom>
              <a:avLst/>
              <a:gdLst/>
              <a:ahLst/>
              <a:cxnLst/>
              <a:rect r="r" b="b" t="t" l="l"/>
              <a:pathLst>
                <a:path h="2322096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279763"/>
                  </a:lnTo>
                  <a:cubicBezTo>
                    <a:pt x="4816592" y="2290991"/>
                    <a:pt x="4812132" y="2301758"/>
                    <a:pt x="4804193" y="2309697"/>
                  </a:cubicBezTo>
                  <a:cubicBezTo>
                    <a:pt x="4796254" y="2317636"/>
                    <a:pt x="4785487" y="2322096"/>
                    <a:pt x="4774259" y="2322096"/>
                  </a:cubicBezTo>
                  <a:lnTo>
                    <a:pt x="42333" y="2322096"/>
                  </a:lnTo>
                  <a:cubicBezTo>
                    <a:pt x="31106" y="2322096"/>
                    <a:pt x="20338" y="2317636"/>
                    <a:pt x="12399" y="2309697"/>
                  </a:cubicBezTo>
                  <a:cubicBezTo>
                    <a:pt x="4460" y="2301758"/>
                    <a:pt x="0" y="2290991"/>
                    <a:pt x="0" y="2279763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360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3048" y="1392452"/>
            <a:ext cx="8177557" cy="5873321"/>
          </a:xfrm>
          <a:custGeom>
            <a:avLst/>
            <a:gdLst/>
            <a:ahLst/>
            <a:cxnLst/>
            <a:rect r="r" b="b" t="t" l="l"/>
            <a:pathLst>
              <a:path h="5873321" w="8177557">
                <a:moveTo>
                  <a:pt x="0" y="0"/>
                </a:moveTo>
                <a:lnTo>
                  <a:pt x="8177557" y="0"/>
                </a:lnTo>
                <a:lnTo>
                  <a:pt x="8177557" y="5873321"/>
                </a:lnTo>
                <a:lnTo>
                  <a:pt x="0" y="587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5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80095" y="483870"/>
            <a:ext cx="8223508" cy="5980733"/>
          </a:xfrm>
          <a:custGeom>
            <a:avLst/>
            <a:gdLst/>
            <a:ahLst/>
            <a:cxnLst/>
            <a:rect r="r" b="b" t="t" l="l"/>
            <a:pathLst>
              <a:path h="5980733" w="8223508">
                <a:moveTo>
                  <a:pt x="0" y="0"/>
                </a:moveTo>
                <a:lnTo>
                  <a:pt x="8223507" y="0"/>
                </a:lnTo>
                <a:lnTo>
                  <a:pt x="8223507" y="5980733"/>
                </a:lnTo>
                <a:lnTo>
                  <a:pt x="0" y="5980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6088900"/>
            <a:ext cx="8359602" cy="446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Prix le plus bas : Niger (inférieur à la médiane globale).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Prix le plus élevé : 140 000 FCFA (mâles au Sénégal, femelles en Mauritanie).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Mali : prix médian stable à 135 000 FCFA (peu importe le sexe).</a:t>
            </a:r>
          </a:p>
          <a:p>
            <a:pPr algn="just">
              <a:lnSpc>
                <a:spcPts val="4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4613" y="455295"/>
            <a:ext cx="6502365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spc="14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PRIX DE VENTE MÉDIAN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65" y="7543800"/>
            <a:ext cx="7780440" cy="334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Prix médian global : 125 000 FCFA.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Femelles généralement plus chères que mâles, sauf au Sénégal (tendance inversée).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02007" y="5307392"/>
            <a:ext cx="6685993" cy="4862540"/>
          </a:xfrm>
          <a:custGeom>
            <a:avLst/>
            <a:gdLst/>
            <a:ahLst/>
            <a:cxnLst/>
            <a:rect r="r" b="b" t="t" l="l"/>
            <a:pathLst>
              <a:path h="4862540" w="6685993">
                <a:moveTo>
                  <a:pt x="0" y="0"/>
                </a:moveTo>
                <a:lnTo>
                  <a:pt x="6685993" y="0"/>
                </a:lnTo>
                <a:lnTo>
                  <a:pt x="6685993" y="4862541"/>
                </a:lnTo>
                <a:lnTo>
                  <a:pt x="0" y="4862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1765" y="5307392"/>
            <a:ext cx="6606974" cy="4805072"/>
          </a:xfrm>
          <a:custGeom>
            <a:avLst/>
            <a:gdLst/>
            <a:ahLst/>
            <a:cxnLst/>
            <a:rect r="r" b="b" t="t" l="l"/>
            <a:pathLst>
              <a:path h="4805072" w="6606974">
                <a:moveTo>
                  <a:pt x="0" y="0"/>
                </a:moveTo>
                <a:lnTo>
                  <a:pt x="6606974" y="0"/>
                </a:lnTo>
                <a:lnTo>
                  <a:pt x="6606974" y="4805072"/>
                </a:lnTo>
                <a:lnTo>
                  <a:pt x="0" y="4805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74540" y="1757501"/>
            <a:ext cx="8608155" cy="8735213"/>
          </a:xfrm>
          <a:custGeom>
            <a:avLst/>
            <a:gdLst/>
            <a:ahLst/>
            <a:cxnLst/>
            <a:rect r="r" b="b" t="t" l="l"/>
            <a:pathLst>
              <a:path h="8735213" w="8608155">
                <a:moveTo>
                  <a:pt x="0" y="0"/>
                </a:moveTo>
                <a:lnTo>
                  <a:pt x="8608155" y="0"/>
                </a:lnTo>
                <a:lnTo>
                  <a:pt x="8608155" y="8735213"/>
                </a:lnTo>
                <a:lnTo>
                  <a:pt x="0" y="873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49512" y="-351422"/>
            <a:ext cx="10535220" cy="5658814"/>
          </a:xfrm>
          <a:custGeom>
            <a:avLst/>
            <a:gdLst/>
            <a:ahLst/>
            <a:cxnLst/>
            <a:rect r="r" b="b" t="t" l="l"/>
            <a:pathLst>
              <a:path h="5658814" w="10535220">
                <a:moveTo>
                  <a:pt x="0" y="0"/>
                </a:moveTo>
                <a:lnTo>
                  <a:pt x="10535220" y="0"/>
                </a:lnTo>
                <a:lnTo>
                  <a:pt x="10535220" y="5658814"/>
                </a:lnTo>
                <a:lnTo>
                  <a:pt x="0" y="5658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2644776" y="5478676"/>
            <a:ext cx="6652494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1558" y="196989"/>
            <a:ext cx="5840415" cy="27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Valeurs standardisées</a:t>
            </a:r>
          </a:p>
          <a:p>
            <a:pPr algn="l">
              <a:lnSpc>
                <a:spcPts val="4480"/>
              </a:lnSpc>
            </a:pP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variables categorielles transformées en numériques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60420" y="1969802"/>
            <a:ext cx="8608155" cy="8735213"/>
          </a:xfrm>
          <a:custGeom>
            <a:avLst/>
            <a:gdLst/>
            <a:ahLst/>
            <a:cxnLst/>
            <a:rect r="r" b="b" t="t" l="l"/>
            <a:pathLst>
              <a:path h="8735213" w="8608155">
                <a:moveTo>
                  <a:pt x="0" y="0"/>
                </a:moveTo>
                <a:lnTo>
                  <a:pt x="8608156" y="0"/>
                </a:lnTo>
                <a:lnTo>
                  <a:pt x="8608156" y="8735213"/>
                </a:lnTo>
                <a:lnTo>
                  <a:pt x="0" y="873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865" y="5575579"/>
            <a:ext cx="6478204" cy="4711421"/>
          </a:xfrm>
          <a:custGeom>
            <a:avLst/>
            <a:gdLst/>
            <a:ahLst/>
            <a:cxnLst/>
            <a:rect r="r" b="b" t="t" l="l"/>
            <a:pathLst>
              <a:path h="4711421" w="6478204">
                <a:moveTo>
                  <a:pt x="0" y="0"/>
                </a:moveTo>
                <a:lnTo>
                  <a:pt x="6478204" y="0"/>
                </a:lnTo>
                <a:lnTo>
                  <a:pt x="6478204" y="4711421"/>
                </a:lnTo>
                <a:lnTo>
                  <a:pt x="0" y="471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434" y="5628792"/>
            <a:ext cx="6331869" cy="4604996"/>
          </a:xfrm>
          <a:custGeom>
            <a:avLst/>
            <a:gdLst/>
            <a:ahLst/>
            <a:cxnLst/>
            <a:rect r="r" b="b" t="t" l="l"/>
            <a:pathLst>
              <a:path h="4604996" w="6331869">
                <a:moveTo>
                  <a:pt x="0" y="0"/>
                </a:moveTo>
                <a:lnTo>
                  <a:pt x="6331870" y="0"/>
                </a:lnTo>
                <a:lnTo>
                  <a:pt x="6331870" y="4604995"/>
                </a:lnTo>
                <a:lnTo>
                  <a:pt x="0" y="4604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28491" y="417922"/>
            <a:ext cx="5764440" cy="5157657"/>
          </a:xfrm>
          <a:custGeom>
            <a:avLst/>
            <a:gdLst/>
            <a:ahLst/>
            <a:cxnLst/>
            <a:rect r="r" b="b" t="t" l="l"/>
            <a:pathLst>
              <a:path h="5157657" w="5764440">
                <a:moveTo>
                  <a:pt x="0" y="0"/>
                </a:moveTo>
                <a:lnTo>
                  <a:pt x="5764440" y="0"/>
                </a:lnTo>
                <a:lnTo>
                  <a:pt x="5764440" y="5157657"/>
                </a:lnTo>
                <a:lnTo>
                  <a:pt x="0" y="5157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2593788" y="5505102"/>
            <a:ext cx="6652494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9243" y="1902930"/>
            <a:ext cx="5861893" cy="11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Utilisation des valeurs normalisées</a:t>
            </a:r>
          </a:p>
          <a:p>
            <a:pPr algn="just">
              <a:lnSpc>
                <a:spcPts val="3220"/>
              </a:lnSpc>
            </a:pPr>
          </a:p>
          <a:p>
            <a:pPr algn="just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Spécification des variables catégorielles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81075"/>
            <a:ext cx="10136663" cy="66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171FD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 Prix i.Sexe Age_norm i.Origine i.Aqui Mois_norm i.country if !(is_outlier</a:t>
            </a:r>
            <a:r>
              <a:rPr lang="en-US" sz="2000" b="true">
                <a:solidFill>
                  <a:srgbClr val="171FD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==1)</a:t>
            </a:r>
          </a:p>
          <a:p>
            <a:pPr algn="just">
              <a:lnSpc>
                <a:spcPts val="25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0015" y="1950555"/>
            <a:ext cx="8608155" cy="8735213"/>
          </a:xfrm>
          <a:custGeom>
            <a:avLst/>
            <a:gdLst/>
            <a:ahLst/>
            <a:cxnLst/>
            <a:rect r="r" b="b" t="t" l="l"/>
            <a:pathLst>
              <a:path h="8735213" w="8608155">
                <a:moveTo>
                  <a:pt x="0" y="0"/>
                </a:moveTo>
                <a:lnTo>
                  <a:pt x="8608155" y="0"/>
                </a:lnTo>
                <a:lnTo>
                  <a:pt x="8608155" y="8735213"/>
                </a:lnTo>
                <a:lnTo>
                  <a:pt x="0" y="873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02675" y="5413815"/>
            <a:ext cx="6364692" cy="4628867"/>
          </a:xfrm>
          <a:custGeom>
            <a:avLst/>
            <a:gdLst/>
            <a:ahLst/>
            <a:cxnLst/>
            <a:rect r="r" b="b" t="t" l="l"/>
            <a:pathLst>
              <a:path h="4628867" w="6364692">
                <a:moveTo>
                  <a:pt x="0" y="0"/>
                </a:moveTo>
                <a:lnTo>
                  <a:pt x="6364692" y="0"/>
                </a:lnTo>
                <a:lnTo>
                  <a:pt x="6364692" y="4628867"/>
                </a:lnTo>
                <a:lnTo>
                  <a:pt x="0" y="4628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5538" y="5463835"/>
            <a:ext cx="6227137" cy="4528827"/>
          </a:xfrm>
          <a:custGeom>
            <a:avLst/>
            <a:gdLst/>
            <a:ahLst/>
            <a:cxnLst/>
            <a:rect r="r" b="b" t="t" l="l"/>
            <a:pathLst>
              <a:path h="4528827" w="6227137">
                <a:moveTo>
                  <a:pt x="0" y="0"/>
                </a:moveTo>
                <a:lnTo>
                  <a:pt x="6227137" y="0"/>
                </a:lnTo>
                <a:lnTo>
                  <a:pt x="6227137" y="4528827"/>
                </a:lnTo>
                <a:lnTo>
                  <a:pt x="0" y="4528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73254" y="175620"/>
            <a:ext cx="5231546" cy="5094115"/>
          </a:xfrm>
          <a:custGeom>
            <a:avLst/>
            <a:gdLst/>
            <a:ahLst/>
            <a:cxnLst/>
            <a:rect r="r" b="b" t="t" l="l"/>
            <a:pathLst>
              <a:path h="5094115" w="5231546">
                <a:moveTo>
                  <a:pt x="0" y="0"/>
                </a:moveTo>
                <a:lnTo>
                  <a:pt x="5231546" y="0"/>
                </a:lnTo>
                <a:lnTo>
                  <a:pt x="5231546" y="5094115"/>
                </a:lnTo>
                <a:lnTo>
                  <a:pt x="0" y="5094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2621366" y="5671732"/>
            <a:ext cx="6652494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9243" y="1902930"/>
            <a:ext cx="5861893" cy="11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Utilisation des valeurs standardisées</a:t>
            </a:r>
          </a:p>
          <a:p>
            <a:pPr algn="just">
              <a:lnSpc>
                <a:spcPts val="3220"/>
              </a:lnSpc>
            </a:pPr>
          </a:p>
          <a:p>
            <a:pPr algn="just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Spécification des variables catégorielles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6530" y="645796"/>
            <a:ext cx="9518005" cy="72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100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 Prix i.Sexe Age_sd i.Origine i.Aqui Mois_sd i.country if !(is_outlier==1)</a:t>
            </a:r>
          </a:p>
          <a:p>
            <a:pPr algn="ctr">
              <a:lnSpc>
                <a:spcPts val="2940"/>
              </a:lnSpc>
            </a:pPr>
          </a:p>
        </p:txBody>
      </p:sp>
    </p:spTree>
  </p:cSld>
  <p:clrMapOvr>
    <a:masterClrMapping/>
  </p:clrMapOvr>
  <p:transition spd="fast">
    <p:circl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793" y="1416252"/>
            <a:ext cx="8030752" cy="2929052"/>
          </a:xfrm>
          <a:custGeom>
            <a:avLst/>
            <a:gdLst/>
            <a:ahLst/>
            <a:cxnLst/>
            <a:rect r="r" b="b" t="t" l="l"/>
            <a:pathLst>
              <a:path h="2929052" w="8030752">
                <a:moveTo>
                  <a:pt x="0" y="0"/>
                </a:moveTo>
                <a:lnTo>
                  <a:pt x="8030751" y="0"/>
                </a:lnTo>
                <a:lnTo>
                  <a:pt x="8030751" y="2929052"/>
                </a:lnTo>
                <a:lnTo>
                  <a:pt x="0" y="29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85195" y="1310207"/>
            <a:ext cx="8174105" cy="3583396"/>
          </a:xfrm>
          <a:custGeom>
            <a:avLst/>
            <a:gdLst/>
            <a:ahLst/>
            <a:cxnLst/>
            <a:rect r="r" b="b" t="t" l="l"/>
            <a:pathLst>
              <a:path h="3583396" w="8174105">
                <a:moveTo>
                  <a:pt x="0" y="0"/>
                </a:moveTo>
                <a:lnTo>
                  <a:pt x="8174105" y="0"/>
                </a:lnTo>
                <a:lnTo>
                  <a:pt x="8174105" y="3583396"/>
                </a:lnTo>
                <a:lnTo>
                  <a:pt x="0" y="3583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45304"/>
            <a:ext cx="6475335" cy="5834320"/>
          </a:xfrm>
          <a:custGeom>
            <a:avLst/>
            <a:gdLst/>
            <a:ahLst/>
            <a:cxnLst/>
            <a:rect r="r" b="b" t="t" l="l"/>
            <a:pathLst>
              <a:path h="5834320" w="6475335">
                <a:moveTo>
                  <a:pt x="0" y="0"/>
                </a:moveTo>
                <a:lnTo>
                  <a:pt x="6475335" y="0"/>
                </a:lnTo>
                <a:lnTo>
                  <a:pt x="6475335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85195" y="5143500"/>
            <a:ext cx="6939800" cy="4771914"/>
          </a:xfrm>
          <a:custGeom>
            <a:avLst/>
            <a:gdLst/>
            <a:ahLst/>
            <a:cxnLst/>
            <a:rect r="r" b="b" t="t" l="l"/>
            <a:pathLst>
              <a:path h="4771914" w="6939800">
                <a:moveTo>
                  <a:pt x="0" y="0"/>
                </a:moveTo>
                <a:lnTo>
                  <a:pt x="6939800" y="0"/>
                </a:lnTo>
                <a:lnTo>
                  <a:pt x="6939800" y="4771914"/>
                </a:lnTo>
                <a:lnTo>
                  <a:pt x="0" y="4771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8378" y="538682"/>
            <a:ext cx="596428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Résumé des modèles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8339" y="538682"/>
            <a:ext cx="702483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Ajout de</a:t>
            </a:r>
            <a:r>
              <a:rPr lang="en-US" sz="4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500" b="true">
                <a:solidFill>
                  <a:srgbClr val="D6B61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animal_number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28233" cy="62823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366800" y="256111"/>
            <a:ext cx="5991706" cy="54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6" spc="91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Elevage et émigration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94512" y="2013822"/>
            <a:ext cx="7329873" cy="7486328"/>
            <a:chOff x="0" y="0"/>
            <a:chExt cx="1930502" cy="1971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0502" cy="1971708"/>
            </a:xfrm>
            <a:custGeom>
              <a:avLst/>
              <a:gdLst/>
              <a:ahLst/>
              <a:cxnLst/>
              <a:rect r="r" b="b" t="t" l="l"/>
              <a:pathLst>
                <a:path h="1971708" w="1930502">
                  <a:moveTo>
                    <a:pt x="0" y="0"/>
                  </a:moveTo>
                  <a:lnTo>
                    <a:pt x="1930502" y="0"/>
                  </a:lnTo>
                  <a:lnTo>
                    <a:pt x="1930502" y="1971708"/>
                  </a:lnTo>
                  <a:lnTo>
                    <a:pt x="0" y="197170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0502" cy="200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859597" y="2378773"/>
            <a:ext cx="6675494" cy="712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Fusion des bases : emigration_cleaned.dta + FT_cleaned.dta (clé : ID).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Moyenne globale d’émigration : 11,17 %.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Plus élevée : Mauritanie (16 %), Niger (14 %).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Plus faible : Burkina Faso (10 %), Sénégal (9 %).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Mali : proche de la moyenne (11 %).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08067" y="1631379"/>
            <a:ext cx="7328743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Intensité de l’émigration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51583" y="2978607"/>
            <a:ext cx="8960770" cy="6521543"/>
          </a:xfrm>
          <a:custGeom>
            <a:avLst/>
            <a:gdLst/>
            <a:ahLst/>
            <a:cxnLst/>
            <a:rect r="r" b="b" t="t" l="l"/>
            <a:pathLst>
              <a:path h="6521543" w="8960770">
                <a:moveTo>
                  <a:pt x="0" y="0"/>
                </a:moveTo>
                <a:lnTo>
                  <a:pt x="8960770" y="0"/>
                </a:lnTo>
                <a:lnTo>
                  <a:pt x="8960770" y="6521543"/>
                </a:lnTo>
                <a:lnTo>
                  <a:pt x="0" y="6521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28233" cy="62823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366800" y="256111"/>
            <a:ext cx="5991706" cy="54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6" spc="91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Elevage et émigration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94512" y="2013822"/>
            <a:ext cx="7329873" cy="7486328"/>
            <a:chOff x="0" y="0"/>
            <a:chExt cx="1930502" cy="1971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0502" cy="1971708"/>
            </a:xfrm>
            <a:custGeom>
              <a:avLst/>
              <a:gdLst/>
              <a:ahLst/>
              <a:cxnLst/>
              <a:rect r="r" b="b" t="t" l="l"/>
              <a:pathLst>
                <a:path h="1971708" w="1930502">
                  <a:moveTo>
                    <a:pt x="0" y="0"/>
                  </a:moveTo>
                  <a:lnTo>
                    <a:pt x="1930502" y="0"/>
                  </a:lnTo>
                  <a:lnTo>
                    <a:pt x="1930502" y="1971708"/>
                  </a:lnTo>
                  <a:lnTo>
                    <a:pt x="0" y="197170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0502" cy="200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514858" y="2536426"/>
            <a:ext cx="7089182" cy="712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Mobilité majoritairement intra-régionale.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Reste dans le pays d’origine : 36,81 %.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Migration vers pays côtiers : 26,92 %.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Autres zones sahéliennes : 18,68 %.</a:t>
            </a:r>
          </a:p>
          <a:p>
            <a:pPr algn="l">
              <a:lnSpc>
                <a:spcPts val="3788"/>
              </a:lnSpc>
            </a:pP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Destinations lointaines (moins fréquentes) :</a:t>
            </a:r>
          </a:p>
          <a:p>
            <a:pPr algn="l" marL="1168354" indent="-389451" lvl="2">
              <a:lnSpc>
                <a:spcPts val="3788"/>
              </a:lnSpc>
              <a:buFont typeface="Arial"/>
              <a:buChar char="⚬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Europe &amp; USA : 7,14 %.</a:t>
            </a:r>
          </a:p>
          <a:p>
            <a:pPr algn="l" marL="1168354" indent="-389451" lvl="2">
              <a:lnSpc>
                <a:spcPts val="3788"/>
              </a:lnSpc>
              <a:buFont typeface="Arial"/>
              <a:buChar char="⚬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Afrique du Nord : 5,49 %.</a:t>
            </a:r>
          </a:p>
          <a:p>
            <a:pPr algn="l" marL="1168354" indent="-389451" lvl="2">
              <a:lnSpc>
                <a:spcPts val="3788"/>
              </a:lnSpc>
              <a:buFont typeface="Arial"/>
              <a:buChar char="⚬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Afrique centrale : 4,95 %.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66800" y="1937622"/>
            <a:ext cx="8842474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Destinations principales des émigrés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66800" y="2948619"/>
            <a:ext cx="9575209" cy="7003581"/>
          </a:xfrm>
          <a:custGeom>
            <a:avLst/>
            <a:gdLst/>
            <a:ahLst/>
            <a:cxnLst/>
            <a:rect r="r" b="b" t="t" l="l"/>
            <a:pathLst>
              <a:path h="7003581" w="9575209">
                <a:moveTo>
                  <a:pt x="0" y="0"/>
                </a:moveTo>
                <a:lnTo>
                  <a:pt x="9575209" y="0"/>
                </a:lnTo>
                <a:lnTo>
                  <a:pt x="9575209" y="7003581"/>
                </a:lnTo>
                <a:lnTo>
                  <a:pt x="0" y="7003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53976"/>
            <a:ext cx="17085554" cy="6133024"/>
            <a:chOff x="0" y="0"/>
            <a:chExt cx="4499899" cy="1615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899" cy="1615282"/>
            </a:xfrm>
            <a:custGeom>
              <a:avLst/>
              <a:gdLst/>
              <a:ahLst/>
              <a:cxnLst/>
              <a:rect r="r" b="b" t="t" l="l"/>
              <a:pathLst>
                <a:path h="1615282" w="4499899">
                  <a:moveTo>
                    <a:pt x="0" y="0"/>
                  </a:moveTo>
                  <a:lnTo>
                    <a:pt x="4499899" y="0"/>
                  </a:lnTo>
                  <a:lnTo>
                    <a:pt x="4499899" y="1615282"/>
                  </a:lnTo>
                  <a:lnTo>
                    <a:pt x="0" y="1615282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9899" cy="165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28233" cy="6282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863225" y="726438"/>
            <a:ext cx="10073422" cy="111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88" b="true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Correler l’intensité de l’émigration et l’indicateur de viabilité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8963" y="2570309"/>
            <a:ext cx="5510074" cy="59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42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Spearman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570309"/>
            <a:ext cx="5510074" cy="59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42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Pearson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9037" y="2471203"/>
            <a:ext cx="5510074" cy="117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42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Imputation par regression multiple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7278" y="4993152"/>
            <a:ext cx="4891731" cy="426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Corrélation positive modérée : 0,3834 (p &lt; 1%).</a:t>
            </a: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Ménages avec élevage plus viable → émigration plus forte.</a:t>
            </a:r>
          </a:p>
          <a:p>
            <a:pPr algn="l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Lien significatif entre les deux variables.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388963" y="4993152"/>
            <a:ext cx="4891731" cy="474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Corrélation positive faible : 𝑟 = 0,2459 (p = 0,0016).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Meilleure viabilité de l’élevage → migration légèrement plus élevée.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Spearman privilégié pour sa robustesse aux outliers.</a:t>
            </a:r>
          </a:p>
          <a:p>
            <a:pPr algn="just">
              <a:lnSpc>
                <a:spcPts val="378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843565" y="4993152"/>
            <a:ext cx="6022477" cy="664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Imputations multiples : estimation robuste des valeurs manquantes.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Prend en compte la relation entre UBT_par_EA et l’intensité de l’émigration.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Génère 5 variables imputées par observation → améliore la précision.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Corrélation positive modérée (0,40 à 0,47).</a:t>
            </a:r>
          </a:p>
          <a:p>
            <a:pPr algn="just" marL="584177" indent="-292088" lvl="1">
              <a:lnSpc>
                <a:spcPts val="3788"/>
              </a:lnSpc>
              <a:buFont typeface="Arial"/>
              <a:buChar char="•"/>
            </a:pPr>
            <a:r>
              <a:rPr lang="en-US" b="true" sz="270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Renforce la fiabilité de l’analyse.</a:t>
            </a:r>
          </a:p>
          <a:p>
            <a:pPr algn="just">
              <a:lnSpc>
                <a:spcPts val="3788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3187182" y="3709016"/>
            <a:ext cx="1193111" cy="889920"/>
            <a:chOff x="0" y="0"/>
            <a:chExt cx="1590815" cy="118656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47445" y="3709016"/>
            <a:ext cx="1193111" cy="889920"/>
            <a:chOff x="0" y="0"/>
            <a:chExt cx="1590815" cy="118656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57519" y="3709016"/>
            <a:ext cx="1193111" cy="889920"/>
            <a:chOff x="0" y="0"/>
            <a:chExt cx="1590815" cy="1186561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590815" cy="1186561"/>
              <a:chOff x="0" y="0"/>
              <a:chExt cx="360499" cy="268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60499" cy="268890"/>
              </a:xfrm>
              <a:custGeom>
                <a:avLst/>
                <a:gdLst/>
                <a:ahLst/>
                <a:cxnLst/>
                <a:rect r="r" b="b" t="t" l="l"/>
                <a:pathLst>
                  <a:path h="268890" w="360499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98352"/>
              <a:ext cx="1590815" cy="913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6"/>
                </a:lnSpc>
              </a:pPr>
              <a:r>
                <a:rPr lang="en-US" sz="415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DAGdfpFnLzg</dc:identifier>
  <dcterms:modified xsi:type="dcterms:W3CDTF">2011-08-01T06:04:30Z</dcterms:modified>
  <cp:revision>1</cp:revision>
  <dc:title>ECOLE NATIONALE DE LA STATISTIQUE ET DE L’ANALYSE ECONOMIQUE</dc:title>
</cp:coreProperties>
</file>