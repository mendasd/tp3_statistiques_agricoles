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x="18288000" cy="10287000"/>
  <p:notesSz cx="6858000" cy="9144000"/>
  <p:embeddedFontLst>
    <p:embeddedFont>
      <p:font typeface="League Spartan" charset="1" panose="00000800000000000000"/>
      <p:regular r:id="rId21"/>
    </p:embeddedFont>
    <p:embeddedFont>
      <p:font typeface="TT Interphases" charset="1" panose="02000503020000020004"/>
      <p:regular r:id="rId22"/>
    </p:embeddedFont>
    <p:embeddedFont>
      <p:font typeface="TT Interphases Bold" charset="1" panose="02000803060000020004"/>
      <p:regular r:id="rId23"/>
    </p:embeddedFont>
    <p:embeddedFont>
      <p:font typeface="Canva Sans" charset="1" panose="020B0503030501040103"/>
      <p:regular r:id="rId24"/>
    </p:embeddedFont>
    <p:embeddedFont>
      <p:font typeface="Canva Sans Bold" charset="1" panose="020B0803030501040103"/>
      <p:regular r:id="rId25"/>
    </p:embeddedFont>
    <p:embeddedFont>
      <p:font typeface="Open Sans" charset="1" panose="020B0606030504020204"/>
      <p:regular r:id="rId26"/>
    </p:embeddedFont>
    <p:embeddedFont>
      <p:font typeface="Open Sans Bold" charset="1" panose="020B0806030504020204"/>
      <p:regular r:id="rId2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fonts/font21.fntdata" Type="http://schemas.openxmlformats.org/officeDocument/2006/relationships/font"/><Relationship Id="rId22" Target="fonts/font22.fntdata" Type="http://schemas.openxmlformats.org/officeDocument/2006/relationships/font"/><Relationship Id="rId23" Target="fonts/font23.fntdata" Type="http://schemas.openxmlformats.org/officeDocument/2006/relationships/font"/><Relationship Id="rId24" Target="fonts/font24.fntdata" Type="http://schemas.openxmlformats.org/officeDocument/2006/relationships/font"/><Relationship Id="rId25" Target="fonts/font25.fntdata" Type="http://schemas.openxmlformats.org/officeDocument/2006/relationships/font"/><Relationship Id="rId26" Target="fonts/font26.fntdata" Type="http://schemas.openxmlformats.org/officeDocument/2006/relationships/font"/><Relationship Id="rId27" Target="fonts/font27.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 Id="rId7" Target="../media/image6.jpe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4.png" Type="http://schemas.openxmlformats.org/officeDocument/2006/relationships/image"/><Relationship Id="rId4" Target="../media/image5.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jpeg" Type="http://schemas.openxmlformats.org/officeDocument/2006/relationships/image"/><Relationship Id="rId3" Target="../media/image4.png" Type="http://schemas.openxmlformats.org/officeDocument/2006/relationships/image"/><Relationship Id="rId4" Target="../media/image5.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9.jpeg" Type="http://schemas.openxmlformats.org/officeDocument/2006/relationships/image"/><Relationship Id="rId3" Target="../media/image10.jpe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 Id="rId3" Target="../media/image12.jpe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3.jpe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4.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5.jpe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6.jpeg" Type="http://schemas.openxmlformats.org/officeDocument/2006/relationships/image"/><Relationship Id="rId3" Target="../media/image17.jpeg" Type="http://schemas.openxmlformats.org/officeDocument/2006/relationships/image"/><Relationship Id="rId4" Target="../media/image18.jpeg" Type="http://schemas.openxmlformats.org/officeDocument/2006/relationships/image"/><Relationship Id="rId5" Target="../media/image19.png" Type="http://schemas.openxmlformats.org/officeDocument/2006/relationships/image"/><Relationship Id="rId6" Target="../media/image20.png" Type="http://schemas.openxmlformats.org/officeDocument/2006/relationships/image"/><Relationship Id="rId7" Target="../media/image21.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0.png" Type="http://schemas.openxmlformats.org/officeDocument/2006/relationships/image"/><Relationship Id="rId3" Target="../media/image21.svg" Type="http://schemas.openxmlformats.org/officeDocument/2006/relationships/image"/><Relationship Id="rId4" Target="../media/image22.png" Type="http://schemas.openxmlformats.org/officeDocument/2006/relationships/image"/><Relationship Id="rId5" Target="../media/image23.jpeg" Type="http://schemas.openxmlformats.org/officeDocument/2006/relationships/image"/><Relationship Id="rId6" Target="../media/image24.jpeg" Type="http://schemas.openxmlformats.org/officeDocument/2006/relationships/image"/><Relationship Id="rId7" Target="../media/image25.jpe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0.png" Type="http://schemas.openxmlformats.org/officeDocument/2006/relationships/image"/><Relationship Id="rId3" Target="../media/image21.svg" Type="http://schemas.openxmlformats.org/officeDocument/2006/relationships/image"/><Relationship Id="rId4" Target="../media/image26.png" Type="http://schemas.openxmlformats.org/officeDocument/2006/relationships/image"/><Relationship Id="rId5" Target="../media/image27.jpeg" Type="http://schemas.openxmlformats.org/officeDocument/2006/relationships/image"/><Relationship Id="rId6" Target="../media/image28.jpeg" Type="http://schemas.openxmlformats.org/officeDocument/2006/relationships/image"/><Relationship Id="rId7" Target="../media/image29.jpe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0.png" Type="http://schemas.openxmlformats.org/officeDocument/2006/relationships/image"/><Relationship Id="rId3" Target="../media/image31.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2.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3.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083B35"/>
        </a:solidFill>
      </p:bgPr>
    </p:bg>
    <p:spTree>
      <p:nvGrpSpPr>
        <p:cNvPr id="1" name=""/>
        <p:cNvGrpSpPr/>
        <p:nvPr/>
      </p:nvGrpSpPr>
      <p:grpSpPr>
        <a:xfrm>
          <a:off x="0" y="0"/>
          <a:ext cx="0" cy="0"/>
          <a:chOff x="0" y="0"/>
          <a:chExt cx="0" cy="0"/>
        </a:xfrm>
      </p:grpSpPr>
      <p:grpSp>
        <p:nvGrpSpPr>
          <p:cNvPr name="Group 2" id="2"/>
          <p:cNvGrpSpPr/>
          <p:nvPr/>
        </p:nvGrpSpPr>
        <p:grpSpPr>
          <a:xfrm rot="0">
            <a:off x="0" y="-889789"/>
            <a:ext cx="18288000" cy="8815016"/>
            <a:chOff x="0" y="0"/>
            <a:chExt cx="4816593" cy="2321650"/>
          </a:xfrm>
        </p:grpSpPr>
        <p:sp>
          <p:nvSpPr>
            <p:cNvPr name="Freeform 3" id="3"/>
            <p:cNvSpPr/>
            <p:nvPr/>
          </p:nvSpPr>
          <p:spPr>
            <a:xfrm flipH="false" flipV="false" rot="0">
              <a:off x="0" y="0"/>
              <a:ext cx="4816592" cy="2321650"/>
            </a:xfrm>
            <a:custGeom>
              <a:avLst/>
              <a:gdLst/>
              <a:ahLst/>
              <a:cxnLst/>
              <a:rect r="r" b="b" t="t" l="l"/>
              <a:pathLst>
                <a:path h="2321650" w="4816592">
                  <a:moveTo>
                    <a:pt x="42333" y="0"/>
                  </a:moveTo>
                  <a:lnTo>
                    <a:pt x="4774259" y="0"/>
                  </a:lnTo>
                  <a:cubicBezTo>
                    <a:pt x="4785487" y="0"/>
                    <a:pt x="4796254" y="4460"/>
                    <a:pt x="4804193" y="12399"/>
                  </a:cubicBezTo>
                  <a:cubicBezTo>
                    <a:pt x="4812132" y="20338"/>
                    <a:pt x="4816592" y="31106"/>
                    <a:pt x="4816592" y="42333"/>
                  </a:cubicBezTo>
                  <a:lnTo>
                    <a:pt x="4816592" y="2279317"/>
                  </a:lnTo>
                  <a:cubicBezTo>
                    <a:pt x="4816592" y="2290544"/>
                    <a:pt x="4812132" y="2301312"/>
                    <a:pt x="4804193" y="2309251"/>
                  </a:cubicBezTo>
                  <a:cubicBezTo>
                    <a:pt x="4796254" y="2317190"/>
                    <a:pt x="4785487" y="2321650"/>
                    <a:pt x="4774259" y="2321650"/>
                  </a:cubicBezTo>
                  <a:lnTo>
                    <a:pt x="42333" y="2321650"/>
                  </a:lnTo>
                  <a:cubicBezTo>
                    <a:pt x="31106" y="2321650"/>
                    <a:pt x="20338" y="2317190"/>
                    <a:pt x="12399" y="2309251"/>
                  </a:cubicBezTo>
                  <a:cubicBezTo>
                    <a:pt x="4460" y="2301312"/>
                    <a:pt x="0" y="2290544"/>
                    <a:pt x="0" y="2279317"/>
                  </a:cubicBezTo>
                  <a:lnTo>
                    <a:pt x="0" y="42333"/>
                  </a:lnTo>
                  <a:cubicBezTo>
                    <a:pt x="0" y="31106"/>
                    <a:pt x="4460" y="20338"/>
                    <a:pt x="12399" y="12399"/>
                  </a:cubicBezTo>
                  <a:cubicBezTo>
                    <a:pt x="20338" y="4460"/>
                    <a:pt x="31106" y="0"/>
                    <a:pt x="42333" y="0"/>
                  </a:cubicBezTo>
                  <a:close/>
                </a:path>
              </a:pathLst>
            </a:custGeom>
            <a:solidFill>
              <a:srgbClr val="124B44"/>
            </a:solidFill>
          </p:spPr>
        </p:sp>
        <p:sp>
          <p:nvSpPr>
            <p:cNvPr name="TextBox 4" id="4"/>
            <p:cNvSpPr txBox="true"/>
            <p:nvPr/>
          </p:nvSpPr>
          <p:spPr>
            <a:xfrm>
              <a:off x="0" y="-38100"/>
              <a:ext cx="4816593" cy="2359750"/>
            </a:xfrm>
            <a:prstGeom prst="rect">
              <a:avLst/>
            </a:prstGeom>
          </p:spPr>
          <p:txBody>
            <a:bodyPr anchor="ctr" rtlCol="false" tIns="50800" lIns="50800" bIns="50800" rIns="50800"/>
            <a:lstStyle/>
            <a:p>
              <a:pPr algn="ctr">
                <a:lnSpc>
                  <a:spcPts val="2659"/>
                </a:lnSpc>
                <a:spcBef>
                  <a:spcPct val="0"/>
                </a:spcBef>
              </a:pPr>
            </a:p>
          </p:txBody>
        </p:sp>
      </p:grpSp>
      <p:grpSp>
        <p:nvGrpSpPr>
          <p:cNvPr name="Group 5" id="5"/>
          <p:cNvGrpSpPr/>
          <p:nvPr/>
        </p:nvGrpSpPr>
        <p:grpSpPr>
          <a:xfrm rot="0">
            <a:off x="10491567" y="1028700"/>
            <a:ext cx="6372688" cy="8229600"/>
            <a:chOff x="0" y="0"/>
            <a:chExt cx="987296" cy="1274980"/>
          </a:xfrm>
        </p:grpSpPr>
        <p:sp>
          <p:nvSpPr>
            <p:cNvPr name="Freeform 6" id="6"/>
            <p:cNvSpPr/>
            <p:nvPr/>
          </p:nvSpPr>
          <p:spPr>
            <a:xfrm flipH="false" flipV="false" rot="0">
              <a:off x="0" y="0"/>
              <a:ext cx="987296" cy="1274980"/>
            </a:xfrm>
            <a:custGeom>
              <a:avLst/>
              <a:gdLst/>
              <a:ahLst/>
              <a:cxnLst/>
              <a:rect r="r" b="b" t="t" l="l"/>
              <a:pathLst>
                <a:path h="1274980" w="987296">
                  <a:moveTo>
                    <a:pt x="77751" y="0"/>
                  </a:moveTo>
                  <a:lnTo>
                    <a:pt x="909545" y="0"/>
                  </a:lnTo>
                  <a:cubicBezTo>
                    <a:pt x="930166" y="0"/>
                    <a:pt x="949942" y="8192"/>
                    <a:pt x="964523" y="22773"/>
                  </a:cubicBezTo>
                  <a:cubicBezTo>
                    <a:pt x="979105" y="37354"/>
                    <a:pt x="987296" y="57130"/>
                    <a:pt x="987296" y="77751"/>
                  </a:cubicBezTo>
                  <a:lnTo>
                    <a:pt x="987296" y="1197229"/>
                  </a:lnTo>
                  <a:cubicBezTo>
                    <a:pt x="987296" y="1240170"/>
                    <a:pt x="952486" y="1274980"/>
                    <a:pt x="909545" y="1274980"/>
                  </a:cubicBezTo>
                  <a:lnTo>
                    <a:pt x="77751" y="1274980"/>
                  </a:lnTo>
                  <a:cubicBezTo>
                    <a:pt x="34810" y="1274980"/>
                    <a:pt x="0" y="1240170"/>
                    <a:pt x="0" y="1197229"/>
                  </a:cubicBezTo>
                  <a:lnTo>
                    <a:pt x="0" y="77751"/>
                  </a:lnTo>
                  <a:cubicBezTo>
                    <a:pt x="0" y="34810"/>
                    <a:pt x="34810" y="0"/>
                    <a:pt x="77751" y="0"/>
                  </a:cubicBezTo>
                  <a:close/>
                </a:path>
              </a:pathLst>
            </a:custGeom>
            <a:blipFill>
              <a:blip r:embed="rId2"/>
              <a:stretch>
                <a:fillRect l="-46914" t="0" r="-46914" b="0"/>
              </a:stretch>
            </a:blipFill>
          </p:spPr>
        </p:sp>
      </p:grpSp>
      <p:sp>
        <p:nvSpPr>
          <p:cNvPr name="Freeform 7" id="7"/>
          <p:cNvSpPr/>
          <p:nvPr/>
        </p:nvSpPr>
        <p:spPr>
          <a:xfrm flipH="false" flipV="false" rot="0">
            <a:off x="1422686" y="1028700"/>
            <a:ext cx="704904" cy="742746"/>
          </a:xfrm>
          <a:custGeom>
            <a:avLst/>
            <a:gdLst/>
            <a:ahLst/>
            <a:cxnLst/>
            <a:rect r="r" b="b" t="t" l="l"/>
            <a:pathLst>
              <a:path h="742746" w="704904">
                <a:moveTo>
                  <a:pt x="0" y="0"/>
                </a:moveTo>
                <a:lnTo>
                  <a:pt x="704904" y="0"/>
                </a:lnTo>
                <a:lnTo>
                  <a:pt x="704904" y="742746"/>
                </a:lnTo>
                <a:lnTo>
                  <a:pt x="0" y="74274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8" id="8"/>
          <p:cNvSpPr/>
          <p:nvPr/>
        </p:nvSpPr>
        <p:spPr>
          <a:xfrm flipH="false" flipV="false" rot="-5400000">
            <a:off x="2934100" y="9803948"/>
            <a:ext cx="362818" cy="490294"/>
          </a:xfrm>
          <a:custGeom>
            <a:avLst/>
            <a:gdLst/>
            <a:ahLst/>
            <a:cxnLst/>
            <a:rect r="r" b="b" t="t" l="l"/>
            <a:pathLst>
              <a:path h="490294" w="362818">
                <a:moveTo>
                  <a:pt x="0" y="0"/>
                </a:moveTo>
                <a:lnTo>
                  <a:pt x="362817" y="0"/>
                </a:lnTo>
                <a:lnTo>
                  <a:pt x="362817" y="490295"/>
                </a:lnTo>
                <a:lnTo>
                  <a:pt x="0" y="490295"/>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9" id="9"/>
          <p:cNvSpPr/>
          <p:nvPr/>
        </p:nvSpPr>
        <p:spPr>
          <a:xfrm flipH="false" flipV="false" rot="0">
            <a:off x="1028700" y="973107"/>
            <a:ext cx="1220301" cy="1220301"/>
          </a:xfrm>
          <a:custGeom>
            <a:avLst/>
            <a:gdLst/>
            <a:ahLst/>
            <a:cxnLst/>
            <a:rect r="r" b="b" t="t" l="l"/>
            <a:pathLst>
              <a:path h="1220301" w="1220301">
                <a:moveTo>
                  <a:pt x="0" y="0"/>
                </a:moveTo>
                <a:lnTo>
                  <a:pt x="1220301" y="0"/>
                </a:lnTo>
                <a:lnTo>
                  <a:pt x="1220301" y="1220301"/>
                </a:lnTo>
                <a:lnTo>
                  <a:pt x="0" y="1220301"/>
                </a:lnTo>
                <a:lnTo>
                  <a:pt x="0" y="0"/>
                </a:lnTo>
                <a:close/>
              </a:path>
            </a:pathLst>
          </a:custGeom>
          <a:blipFill>
            <a:blip r:embed="rId7"/>
            <a:stretch>
              <a:fillRect l="0" t="0" r="0" b="0"/>
            </a:stretch>
          </a:blipFill>
        </p:spPr>
      </p:sp>
      <p:sp>
        <p:nvSpPr>
          <p:cNvPr name="TextBox 10" id="10"/>
          <p:cNvSpPr txBox="true"/>
          <p:nvPr/>
        </p:nvSpPr>
        <p:spPr>
          <a:xfrm rot="0">
            <a:off x="896325" y="3651069"/>
            <a:ext cx="8879347" cy="1551859"/>
          </a:xfrm>
          <a:prstGeom prst="rect">
            <a:avLst/>
          </a:prstGeom>
        </p:spPr>
        <p:txBody>
          <a:bodyPr anchor="t" rtlCol="false" tIns="0" lIns="0" bIns="0" rIns="0">
            <a:spAutoFit/>
          </a:bodyPr>
          <a:lstStyle/>
          <a:p>
            <a:pPr algn="l">
              <a:lnSpc>
                <a:spcPts val="5986"/>
              </a:lnSpc>
            </a:pPr>
            <a:r>
              <a:rPr lang="en-US" sz="6171">
                <a:solidFill>
                  <a:srgbClr val="FFFFFF"/>
                </a:solidFill>
                <a:latin typeface="League Spartan"/>
                <a:ea typeface="League Spartan"/>
                <a:cs typeface="League Spartan"/>
                <a:sym typeface="League Spartan"/>
              </a:rPr>
              <a:t>            TP3 </a:t>
            </a:r>
          </a:p>
          <a:p>
            <a:pPr algn="l">
              <a:lnSpc>
                <a:spcPts val="5986"/>
              </a:lnSpc>
            </a:pPr>
            <a:r>
              <a:rPr lang="en-US" sz="6171">
                <a:solidFill>
                  <a:srgbClr val="FFFFFF"/>
                </a:solidFill>
                <a:latin typeface="League Spartan"/>
                <a:ea typeface="League Spartan"/>
                <a:cs typeface="League Spartan"/>
                <a:sym typeface="League Spartan"/>
              </a:rPr>
              <a:t>ELEVAGE PASTORALE</a:t>
            </a:r>
          </a:p>
        </p:txBody>
      </p:sp>
      <p:sp>
        <p:nvSpPr>
          <p:cNvPr name="TextBox 11" id="11"/>
          <p:cNvSpPr txBox="true"/>
          <p:nvPr/>
        </p:nvSpPr>
        <p:spPr>
          <a:xfrm rot="0">
            <a:off x="601000" y="5373725"/>
            <a:ext cx="6450441" cy="3155800"/>
          </a:xfrm>
          <a:prstGeom prst="rect">
            <a:avLst/>
          </a:prstGeom>
        </p:spPr>
        <p:txBody>
          <a:bodyPr anchor="t" rtlCol="false" tIns="0" lIns="0" bIns="0" rIns="0">
            <a:spAutoFit/>
          </a:bodyPr>
          <a:lstStyle/>
          <a:p>
            <a:pPr algn="l">
              <a:lnSpc>
                <a:spcPts val="5083"/>
              </a:lnSpc>
            </a:pPr>
            <a:r>
              <a:rPr lang="en-US" sz="3630">
                <a:solidFill>
                  <a:srgbClr val="FFFFFF"/>
                </a:solidFill>
                <a:latin typeface="TT Interphases"/>
                <a:ea typeface="TT Interphases"/>
                <a:cs typeface="TT Interphases"/>
                <a:sym typeface="TT Interphases"/>
              </a:rPr>
              <a:t>Réalisé par : </a:t>
            </a:r>
          </a:p>
          <a:p>
            <a:pPr algn="l">
              <a:lnSpc>
                <a:spcPts val="5083"/>
              </a:lnSpc>
            </a:pPr>
            <a:r>
              <a:rPr lang="en-US" sz="3630" b="true">
                <a:solidFill>
                  <a:srgbClr val="FFFFFF"/>
                </a:solidFill>
                <a:latin typeface="TT Interphases Bold"/>
                <a:ea typeface="TT Interphases Bold"/>
                <a:cs typeface="TT Interphases Bold"/>
                <a:sym typeface="TT Interphases Bold"/>
              </a:rPr>
              <a:t>NZONDE David Christ, </a:t>
            </a:r>
          </a:p>
          <a:p>
            <a:pPr algn="l">
              <a:lnSpc>
                <a:spcPts val="5083"/>
              </a:lnSpc>
            </a:pPr>
            <a:r>
              <a:rPr lang="en-US" sz="3630" b="true">
                <a:solidFill>
                  <a:srgbClr val="FFFFFF"/>
                </a:solidFill>
                <a:latin typeface="TT Interphases Bold"/>
                <a:ea typeface="TT Interphases Bold"/>
                <a:cs typeface="TT Interphases Bold"/>
                <a:sym typeface="TT Interphases Bold"/>
              </a:rPr>
              <a:t>Djekonbe Ndoasnan Armand  </a:t>
            </a:r>
            <a:r>
              <a:rPr lang="en-US" sz="3630">
                <a:solidFill>
                  <a:srgbClr val="FFFFFF"/>
                </a:solidFill>
                <a:latin typeface="TT Interphases"/>
                <a:ea typeface="TT Interphases"/>
                <a:cs typeface="TT Interphases"/>
                <a:sym typeface="TT Interphases"/>
              </a:rPr>
              <a:t>Elèves Analystes Statisticiens   </a:t>
            </a:r>
          </a:p>
          <a:p>
            <a:pPr algn="l">
              <a:lnSpc>
                <a:spcPts val="5083"/>
              </a:lnSpc>
            </a:pPr>
          </a:p>
        </p:txBody>
      </p:sp>
      <p:sp>
        <p:nvSpPr>
          <p:cNvPr name="TextBox 12" id="12"/>
          <p:cNvSpPr txBox="true"/>
          <p:nvPr/>
        </p:nvSpPr>
        <p:spPr>
          <a:xfrm rot="0">
            <a:off x="2422611" y="1286976"/>
            <a:ext cx="7353061" cy="659237"/>
          </a:xfrm>
          <a:prstGeom prst="rect">
            <a:avLst/>
          </a:prstGeom>
        </p:spPr>
        <p:txBody>
          <a:bodyPr anchor="t" rtlCol="false" tIns="0" lIns="0" bIns="0" rIns="0">
            <a:spAutoFit/>
          </a:bodyPr>
          <a:lstStyle/>
          <a:p>
            <a:pPr algn="l">
              <a:lnSpc>
                <a:spcPts val="2597"/>
              </a:lnSpc>
            </a:pPr>
            <a:r>
              <a:rPr lang="en-US" sz="2677">
                <a:solidFill>
                  <a:srgbClr val="D6B611"/>
                </a:solidFill>
                <a:latin typeface="League Spartan"/>
                <a:ea typeface="League Spartan"/>
                <a:cs typeface="League Spartan"/>
                <a:sym typeface="League Spartan"/>
              </a:rPr>
              <a:t>ECOLE NATIONALE DE LA STATISTIQUE ET DE L’ANALYSE ECONOMIQUE</a:t>
            </a:r>
          </a:p>
        </p:txBody>
      </p:sp>
      <p:sp>
        <p:nvSpPr>
          <p:cNvPr name="TextBox 13" id="13"/>
          <p:cNvSpPr txBox="true"/>
          <p:nvPr/>
        </p:nvSpPr>
        <p:spPr>
          <a:xfrm rot="0">
            <a:off x="3254833" y="8462850"/>
            <a:ext cx="6920523" cy="1850185"/>
          </a:xfrm>
          <a:prstGeom prst="rect">
            <a:avLst/>
          </a:prstGeom>
        </p:spPr>
        <p:txBody>
          <a:bodyPr anchor="t" rtlCol="false" tIns="0" lIns="0" bIns="0" rIns="0">
            <a:spAutoFit/>
          </a:bodyPr>
          <a:lstStyle/>
          <a:p>
            <a:pPr algn="ctr">
              <a:lnSpc>
                <a:spcPts val="4631"/>
              </a:lnSpc>
              <a:spcBef>
                <a:spcPct val="0"/>
              </a:spcBef>
            </a:pPr>
            <a:r>
              <a:rPr lang="en-US" sz="3308">
                <a:solidFill>
                  <a:srgbClr val="D6B611"/>
                </a:solidFill>
                <a:latin typeface="Canva Sans"/>
                <a:ea typeface="Canva Sans"/>
                <a:cs typeface="Canva Sans"/>
                <a:sym typeface="Canva Sans"/>
              </a:rPr>
              <a:t>Encadré par : </a:t>
            </a:r>
            <a:r>
              <a:rPr lang="en-US" b="true" sz="3308">
                <a:solidFill>
                  <a:srgbClr val="D6B611"/>
                </a:solidFill>
                <a:latin typeface="Canva Sans Bold"/>
                <a:ea typeface="Canva Sans Bold"/>
                <a:cs typeface="Canva Sans Bold"/>
                <a:sym typeface="Canva Sans Bold"/>
              </a:rPr>
              <a:t>Rassoul Sy</a:t>
            </a:r>
            <a:r>
              <a:rPr lang="en-US" sz="3308">
                <a:solidFill>
                  <a:srgbClr val="D6B611"/>
                </a:solidFill>
                <a:latin typeface="Canva Sans"/>
                <a:ea typeface="Canva Sans"/>
                <a:cs typeface="Canva Sans"/>
                <a:sym typeface="Canva Sans"/>
              </a:rPr>
              <a:t>, </a:t>
            </a:r>
          </a:p>
          <a:p>
            <a:pPr algn="ctr">
              <a:lnSpc>
                <a:spcPts val="4351"/>
              </a:lnSpc>
              <a:spcBef>
                <a:spcPct val="0"/>
              </a:spcBef>
            </a:pPr>
            <a:r>
              <a:rPr lang="en-US" sz="3108">
                <a:solidFill>
                  <a:srgbClr val="D6B611"/>
                </a:solidFill>
                <a:latin typeface="Canva Sans"/>
                <a:ea typeface="Canva Sans"/>
                <a:cs typeface="Canva Sans"/>
                <a:sym typeface="Canva Sans"/>
              </a:rPr>
              <a:t>Ingénieur statisticien économiste</a:t>
            </a:r>
          </a:p>
          <a:p>
            <a:pPr algn="ctr">
              <a:lnSpc>
                <a:spcPts val="2251"/>
              </a:lnSpc>
              <a:spcBef>
                <a:spcPct val="0"/>
              </a:spcBef>
            </a:pPr>
          </a:p>
          <a:p>
            <a:pPr algn="ctr">
              <a:lnSpc>
                <a:spcPts val="3511"/>
              </a:lnSpc>
              <a:spcBef>
                <a:spcPct val="0"/>
              </a:spcBef>
            </a:pP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083B35"/>
        </a:solidFill>
      </p:bgPr>
    </p:bg>
    <p:spTree>
      <p:nvGrpSpPr>
        <p:cNvPr id="1" name=""/>
        <p:cNvGrpSpPr/>
        <p:nvPr/>
      </p:nvGrpSpPr>
      <p:grpSpPr>
        <a:xfrm>
          <a:off x="0" y="0"/>
          <a:ext cx="0" cy="0"/>
          <a:chOff x="0" y="0"/>
          <a:chExt cx="0" cy="0"/>
        </a:xfrm>
      </p:grpSpPr>
      <p:grpSp>
        <p:nvGrpSpPr>
          <p:cNvPr name="Group 2" id="2"/>
          <p:cNvGrpSpPr/>
          <p:nvPr/>
        </p:nvGrpSpPr>
        <p:grpSpPr>
          <a:xfrm rot="0">
            <a:off x="-746163" y="2132035"/>
            <a:ext cx="11285821" cy="9707048"/>
            <a:chOff x="0" y="0"/>
            <a:chExt cx="2972397" cy="2556589"/>
          </a:xfrm>
        </p:grpSpPr>
        <p:sp>
          <p:nvSpPr>
            <p:cNvPr name="Freeform 3" id="3"/>
            <p:cNvSpPr/>
            <p:nvPr/>
          </p:nvSpPr>
          <p:spPr>
            <a:xfrm flipH="false" flipV="false" rot="0">
              <a:off x="0" y="0"/>
              <a:ext cx="2972397" cy="2556589"/>
            </a:xfrm>
            <a:custGeom>
              <a:avLst/>
              <a:gdLst/>
              <a:ahLst/>
              <a:cxnLst/>
              <a:rect r="r" b="b" t="t" l="l"/>
              <a:pathLst>
                <a:path h="2556589" w="2972397">
                  <a:moveTo>
                    <a:pt x="68599" y="0"/>
                  </a:moveTo>
                  <a:lnTo>
                    <a:pt x="2903799" y="0"/>
                  </a:lnTo>
                  <a:cubicBezTo>
                    <a:pt x="2921992" y="0"/>
                    <a:pt x="2939441" y="7227"/>
                    <a:pt x="2952305" y="20092"/>
                  </a:cubicBezTo>
                  <a:cubicBezTo>
                    <a:pt x="2965170" y="32957"/>
                    <a:pt x="2972397" y="50405"/>
                    <a:pt x="2972397" y="68599"/>
                  </a:cubicBezTo>
                  <a:lnTo>
                    <a:pt x="2972397" y="2487990"/>
                  </a:lnTo>
                  <a:cubicBezTo>
                    <a:pt x="2972397" y="2525876"/>
                    <a:pt x="2941685" y="2556589"/>
                    <a:pt x="2903799" y="2556589"/>
                  </a:cubicBezTo>
                  <a:lnTo>
                    <a:pt x="68599" y="2556589"/>
                  </a:lnTo>
                  <a:cubicBezTo>
                    <a:pt x="30713" y="2556589"/>
                    <a:pt x="0" y="2525876"/>
                    <a:pt x="0" y="2487990"/>
                  </a:cubicBezTo>
                  <a:lnTo>
                    <a:pt x="0" y="68599"/>
                  </a:lnTo>
                  <a:cubicBezTo>
                    <a:pt x="0" y="30713"/>
                    <a:pt x="30713" y="0"/>
                    <a:pt x="68599" y="0"/>
                  </a:cubicBezTo>
                  <a:close/>
                </a:path>
              </a:pathLst>
            </a:custGeom>
            <a:solidFill>
              <a:srgbClr val="124B44"/>
            </a:solidFill>
          </p:spPr>
        </p:sp>
        <p:sp>
          <p:nvSpPr>
            <p:cNvPr name="TextBox 4" id="4"/>
            <p:cNvSpPr txBox="true"/>
            <p:nvPr/>
          </p:nvSpPr>
          <p:spPr>
            <a:xfrm>
              <a:off x="0" y="-38100"/>
              <a:ext cx="2972397" cy="2594689"/>
            </a:xfrm>
            <a:prstGeom prst="rect">
              <a:avLst/>
            </a:prstGeom>
          </p:spPr>
          <p:txBody>
            <a:bodyPr anchor="ctr" rtlCol="false" tIns="50800" lIns="50800" bIns="50800" rIns="50800"/>
            <a:lstStyle/>
            <a:p>
              <a:pPr algn="ctr">
                <a:lnSpc>
                  <a:spcPts val="2659"/>
                </a:lnSpc>
                <a:spcBef>
                  <a:spcPct val="0"/>
                </a:spcBef>
              </a:pPr>
            </a:p>
          </p:txBody>
        </p:sp>
      </p:grpSp>
      <p:grpSp>
        <p:nvGrpSpPr>
          <p:cNvPr name="Group 5" id="5"/>
          <p:cNvGrpSpPr/>
          <p:nvPr/>
        </p:nvGrpSpPr>
        <p:grpSpPr>
          <a:xfrm rot="0">
            <a:off x="9637845" y="-622537"/>
            <a:ext cx="7622134" cy="8254074"/>
            <a:chOff x="0" y="0"/>
            <a:chExt cx="1180868" cy="1278772"/>
          </a:xfrm>
        </p:grpSpPr>
        <p:sp>
          <p:nvSpPr>
            <p:cNvPr name="Freeform 6" id="6"/>
            <p:cNvSpPr/>
            <p:nvPr/>
          </p:nvSpPr>
          <p:spPr>
            <a:xfrm flipH="false" flipV="false" rot="0">
              <a:off x="0" y="0"/>
              <a:ext cx="1180868" cy="1278772"/>
            </a:xfrm>
            <a:custGeom>
              <a:avLst/>
              <a:gdLst/>
              <a:ahLst/>
              <a:cxnLst/>
              <a:rect r="r" b="b" t="t" l="l"/>
              <a:pathLst>
                <a:path h="1278772" w="1180868">
                  <a:moveTo>
                    <a:pt x="65006" y="0"/>
                  </a:moveTo>
                  <a:lnTo>
                    <a:pt x="1115862" y="0"/>
                  </a:lnTo>
                  <a:cubicBezTo>
                    <a:pt x="1151764" y="0"/>
                    <a:pt x="1180868" y="29104"/>
                    <a:pt x="1180868" y="65006"/>
                  </a:cubicBezTo>
                  <a:lnTo>
                    <a:pt x="1180868" y="1213766"/>
                  </a:lnTo>
                  <a:cubicBezTo>
                    <a:pt x="1180868" y="1249668"/>
                    <a:pt x="1151764" y="1278772"/>
                    <a:pt x="1115862" y="1278772"/>
                  </a:cubicBezTo>
                  <a:lnTo>
                    <a:pt x="65006" y="1278772"/>
                  </a:lnTo>
                  <a:cubicBezTo>
                    <a:pt x="29104" y="1278772"/>
                    <a:pt x="0" y="1249668"/>
                    <a:pt x="0" y="1213766"/>
                  </a:cubicBezTo>
                  <a:lnTo>
                    <a:pt x="0" y="65006"/>
                  </a:lnTo>
                  <a:cubicBezTo>
                    <a:pt x="0" y="29104"/>
                    <a:pt x="29104" y="0"/>
                    <a:pt x="65006" y="0"/>
                  </a:cubicBezTo>
                  <a:close/>
                </a:path>
              </a:pathLst>
            </a:custGeom>
            <a:blipFill>
              <a:blip r:embed="rId2"/>
              <a:stretch>
                <a:fillRect l="0" t="-867" r="0" b="-19646"/>
              </a:stretch>
            </a:blipFill>
          </p:spPr>
        </p:sp>
      </p:grpSp>
      <p:grpSp>
        <p:nvGrpSpPr>
          <p:cNvPr name="Group 7" id="7"/>
          <p:cNvGrpSpPr/>
          <p:nvPr/>
        </p:nvGrpSpPr>
        <p:grpSpPr>
          <a:xfrm rot="0">
            <a:off x="13448911" y="8199899"/>
            <a:ext cx="3810389" cy="1058401"/>
            <a:chOff x="0" y="0"/>
            <a:chExt cx="1033028" cy="286941"/>
          </a:xfrm>
        </p:grpSpPr>
        <p:sp>
          <p:nvSpPr>
            <p:cNvPr name="Freeform 8" id="8"/>
            <p:cNvSpPr/>
            <p:nvPr/>
          </p:nvSpPr>
          <p:spPr>
            <a:xfrm flipH="false" flipV="false" rot="0">
              <a:off x="0" y="0"/>
              <a:ext cx="1033028" cy="286941"/>
            </a:xfrm>
            <a:custGeom>
              <a:avLst/>
              <a:gdLst/>
              <a:ahLst/>
              <a:cxnLst/>
              <a:rect r="r" b="b" t="t" l="l"/>
              <a:pathLst>
                <a:path h="286941" w="1033028">
                  <a:moveTo>
                    <a:pt x="143471" y="0"/>
                  </a:moveTo>
                  <a:lnTo>
                    <a:pt x="889557" y="0"/>
                  </a:lnTo>
                  <a:cubicBezTo>
                    <a:pt x="927608" y="0"/>
                    <a:pt x="964100" y="15116"/>
                    <a:pt x="991006" y="42022"/>
                  </a:cubicBezTo>
                  <a:cubicBezTo>
                    <a:pt x="1017912" y="68928"/>
                    <a:pt x="1033028" y="105420"/>
                    <a:pt x="1033028" y="143471"/>
                  </a:cubicBezTo>
                  <a:lnTo>
                    <a:pt x="1033028" y="143471"/>
                  </a:lnTo>
                  <a:cubicBezTo>
                    <a:pt x="1033028" y="181521"/>
                    <a:pt x="1017912" y="218014"/>
                    <a:pt x="991006" y="244920"/>
                  </a:cubicBezTo>
                  <a:cubicBezTo>
                    <a:pt x="964100" y="271826"/>
                    <a:pt x="927608" y="286941"/>
                    <a:pt x="889557" y="286941"/>
                  </a:cubicBezTo>
                  <a:lnTo>
                    <a:pt x="143471" y="286941"/>
                  </a:lnTo>
                  <a:cubicBezTo>
                    <a:pt x="105420" y="286941"/>
                    <a:pt x="68928" y="271826"/>
                    <a:pt x="42022" y="244920"/>
                  </a:cubicBezTo>
                  <a:cubicBezTo>
                    <a:pt x="15116" y="218014"/>
                    <a:pt x="0" y="181521"/>
                    <a:pt x="0" y="143471"/>
                  </a:cubicBezTo>
                  <a:lnTo>
                    <a:pt x="0" y="143471"/>
                  </a:lnTo>
                  <a:cubicBezTo>
                    <a:pt x="0" y="105420"/>
                    <a:pt x="15116" y="68928"/>
                    <a:pt x="42022" y="42022"/>
                  </a:cubicBezTo>
                  <a:cubicBezTo>
                    <a:pt x="68928" y="15116"/>
                    <a:pt x="105420" y="0"/>
                    <a:pt x="143471" y="0"/>
                  </a:cubicBezTo>
                  <a:close/>
                </a:path>
              </a:pathLst>
            </a:custGeom>
            <a:solidFill>
              <a:srgbClr val="D6B611"/>
            </a:solidFill>
          </p:spPr>
        </p:sp>
        <p:sp>
          <p:nvSpPr>
            <p:cNvPr name="TextBox 9" id="9"/>
            <p:cNvSpPr txBox="true"/>
            <p:nvPr/>
          </p:nvSpPr>
          <p:spPr>
            <a:xfrm>
              <a:off x="0" y="-38100"/>
              <a:ext cx="1033028" cy="325041"/>
            </a:xfrm>
            <a:prstGeom prst="rect">
              <a:avLst/>
            </a:prstGeom>
          </p:spPr>
          <p:txBody>
            <a:bodyPr anchor="ctr" rtlCol="false" tIns="50800" lIns="50800" bIns="50800" rIns="50800"/>
            <a:lstStyle/>
            <a:p>
              <a:pPr algn="ctr">
                <a:lnSpc>
                  <a:spcPts val="2659"/>
                </a:lnSpc>
              </a:pPr>
            </a:p>
          </p:txBody>
        </p:sp>
      </p:grpSp>
      <p:grpSp>
        <p:nvGrpSpPr>
          <p:cNvPr name="Group 10" id="10"/>
          <p:cNvGrpSpPr/>
          <p:nvPr/>
        </p:nvGrpSpPr>
        <p:grpSpPr>
          <a:xfrm rot="0">
            <a:off x="16193295" y="8199899"/>
            <a:ext cx="1066005" cy="1058401"/>
            <a:chOff x="0" y="0"/>
            <a:chExt cx="289003" cy="286941"/>
          </a:xfrm>
        </p:grpSpPr>
        <p:sp>
          <p:nvSpPr>
            <p:cNvPr name="Freeform 11" id="11"/>
            <p:cNvSpPr/>
            <p:nvPr/>
          </p:nvSpPr>
          <p:spPr>
            <a:xfrm flipH="false" flipV="false" rot="0">
              <a:off x="0" y="0"/>
              <a:ext cx="289003" cy="286941"/>
            </a:xfrm>
            <a:custGeom>
              <a:avLst/>
              <a:gdLst/>
              <a:ahLst/>
              <a:cxnLst/>
              <a:rect r="r" b="b" t="t" l="l"/>
              <a:pathLst>
                <a:path h="286941" w="289003">
                  <a:moveTo>
                    <a:pt x="143471" y="0"/>
                  </a:moveTo>
                  <a:lnTo>
                    <a:pt x="145532" y="0"/>
                  </a:lnTo>
                  <a:cubicBezTo>
                    <a:pt x="183583" y="0"/>
                    <a:pt x="220075" y="15116"/>
                    <a:pt x="246981" y="42022"/>
                  </a:cubicBezTo>
                  <a:cubicBezTo>
                    <a:pt x="273887" y="68928"/>
                    <a:pt x="289003" y="105420"/>
                    <a:pt x="289003" y="143471"/>
                  </a:cubicBezTo>
                  <a:lnTo>
                    <a:pt x="289003" y="143471"/>
                  </a:lnTo>
                  <a:cubicBezTo>
                    <a:pt x="289003" y="181521"/>
                    <a:pt x="273887" y="218014"/>
                    <a:pt x="246981" y="244920"/>
                  </a:cubicBezTo>
                  <a:cubicBezTo>
                    <a:pt x="220075" y="271826"/>
                    <a:pt x="183583" y="286941"/>
                    <a:pt x="145532" y="286941"/>
                  </a:cubicBezTo>
                  <a:lnTo>
                    <a:pt x="143471" y="286941"/>
                  </a:lnTo>
                  <a:cubicBezTo>
                    <a:pt x="105420" y="286941"/>
                    <a:pt x="68928" y="271826"/>
                    <a:pt x="42022" y="244920"/>
                  </a:cubicBezTo>
                  <a:cubicBezTo>
                    <a:pt x="15116" y="218014"/>
                    <a:pt x="0" y="181521"/>
                    <a:pt x="0" y="143471"/>
                  </a:cubicBezTo>
                  <a:lnTo>
                    <a:pt x="0" y="143471"/>
                  </a:lnTo>
                  <a:cubicBezTo>
                    <a:pt x="0" y="105420"/>
                    <a:pt x="15116" y="68928"/>
                    <a:pt x="42022" y="42022"/>
                  </a:cubicBezTo>
                  <a:cubicBezTo>
                    <a:pt x="68928" y="15116"/>
                    <a:pt x="105420" y="0"/>
                    <a:pt x="143471" y="0"/>
                  </a:cubicBezTo>
                  <a:close/>
                </a:path>
              </a:pathLst>
            </a:custGeom>
            <a:solidFill>
              <a:srgbClr val="FFFFFF"/>
            </a:solidFill>
          </p:spPr>
        </p:sp>
        <p:sp>
          <p:nvSpPr>
            <p:cNvPr name="TextBox 12" id="12"/>
            <p:cNvSpPr txBox="true"/>
            <p:nvPr/>
          </p:nvSpPr>
          <p:spPr>
            <a:xfrm>
              <a:off x="0" y="-38100"/>
              <a:ext cx="289003" cy="325041"/>
            </a:xfrm>
            <a:prstGeom prst="rect">
              <a:avLst/>
            </a:prstGeom>
          </p:spPr>
          <p:txBody>
            <a:bodyPr anchor="ctr" rtlCol="false" tIns="50800" lIns="50800" bIns="50800" rIns="50800"/>
            <a:lstStyle/>
            <a:p>
              <a:pPr algn="ctr">
                <a:lnSpc>
                  <a:spcPts val="2659"/>
                </a:lnSpc>
              </a:pPr>
            </a:p>
          </p:txBody>
        </p:sp>
      </p:grpSp>
      <p:sp>
        <p:nvSpPr>
          <p:cNvPr name="Freeform 13" id="13"/>
          <p:cNvSpPr/>
          <p:nvPr/>
        </p:nvSpPr>
        <p:spPr>
          <a:xfrm flipH="false" flipV="false" rot="-5400000">
            <a:off x="16558305" y="8483953"/>
            <a:ext cx="362818" cy="490294"/>
          </a:xfrm>
          <a:custGeom>
            <a:avLst/>
            <a:gdLst/>
            <a:ahLst/>
            <a:cxnLst/>
            <a:rect r="r" b="b" t="t" l="l"/>
            <a:pathLst>
              <a:path h="490294" w="362818">
                <a:moveTo>
                  <a:pt x="0" y="0"/>
                </a:moveTo>
                <a:lnTo>
                  <a:pt x="362818" y="0"/>
                </a:lnTo>
                <a:lnTo>
                  <a:pt x="362818" y="490294"/>
                </a:lnTo>
                <a:lnTo>
                  <a:pt x="0" y="49029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4" id="14"/>
          <p:cNvSpPr txBox="true"/>
          <p:nvPr/>
        </p:nvSpPr>
        <p:spPr>
          <a:xfrm rot="0">
            <a:off x="487490" y="396152"/>
            <a:ext cx="7937547" cy="1388921"/>
          </a:xfrm>
          <a:prstGeom prst="rect">
            <a:avLst/>
          </a:prstGeom>
        </p:spPr>
        <p:txBody>
          <a:bodyPr anchor="t" rtlCol="false" tIns="0" lIns="0" bIns="0" rIns="0">
            <a:spAutoFit/>
          </a:bodyPr>
          <a:lstStyle/>
          <a:p>
            <a:pPr algn="l">
              <a:lnSpc>
                <a:spcPts val="10656"/>
              </a:lnSpc>
            </a:pPr>
            <a:r>
              <a:rPr lang="en-US" b="true" sz="9959">
                <a:solidFill>
                  <a:srgbClr val="FFFFFF"/>
                </a:solidFill>
                <a:latin typeface="League Spartan"/>
                <a:ea typeface="League Spartan"/>
                <a:cs typeface="League Spartan"/>
                <a:sym typeface="League Spartan"/>
              </a:rPr>
              <a:t>PLAN</a:t>
            </a:r>
          </a:p>
        </p:txBody>
      </p:sp>
      <p:sp>
        <p:nvSpPr>
          <p:cNvPr name="TextBox 15" id="15"/>
          <p:cNvSpPr txBox="true"/>
          <p:nvPr/>
        </p:nvSpPr>
        <p:spPr>
          <a:xfrm rot="0">
            <a:off x="13776279" y="8425802"/>
            <a:ext cx="2356171" cy="549446"/>
          </a:xfrm>
          <a:prstGeom prst="rect">
            <a:avLst/>
          </a:prstGeom>
        </p:spPr>
        <p:txBody>
          <a:bodyPr anchor="t" rtlCol="false" tIns="0" lIns="0" bIns="0" rIns="0">
            <a:spAutoFit/>
          </a:bodyPr>
          <a:lstStyle/>
          <a:p>
            <a:pPr algn="ctr">
              <a:lnSpc>
                <a:spcPts val="4575"/>
              </a:lnSpc>
            </a:pPr>
            <a:r>
              <a:rPr lang="en-US" sz="3268">
                <a:solidFill>
                  <a:srgbClr val="083B35"/>
                </a:solidFill>
                <a:latin typeface="TT Interphases"/>
                <a:ea typeface="TT Interphases"/>
                <a:cs typeface="TT Interphases"/>
                <a:sym typeface="TT Interphases"/>
              </a:rPr>
              <a:t>Next Slide</a:t>
            </a:r>
          </a:p>
        </p:txBody>
      </p:sp>
      <p:sp>
        <p:nvSpPr>
          <p:cNvPr name="TextBox 16" id="16"/>
          <p:cNvSpPr txBox="true"/>
          <p:nvPr/>
        </p:nvSpPr>
        <p:spPr>
          <a:xfrm rot="0">
            <a:off x="0" y="2515591"/>
            <a:ext cx="9144000" cy="6547606"/>
          </a:xfrm>
          <a:prstGeom prst="rect">
            <a:avLst/>
          </a:prstGeom>
        </p:spPr>
        <p:txBody>
          <a:bodyPr anchor="t" rtlCol="false" tIns="0" lIns="0" bIns="0" rIns="0">
            <a:spAutoFit/>
          </a:bodyPr>
          <a:lstStyle/>
          <a:p>
            <a:pPr algn="just" marL="1017759" indent="-508879" lvl="1">
              <a:lnSpc>
                <a:spcPts val="7353"/>
              </a:lnSpc>
              <a:buAutoNum type="arabicPeriod" startAt="1"/>
            </a:pPr>
            <a:r>
              <a:rPr lang="en-US" sz="4714">
                <a:solidFill>
                  <a:srgbClr val="FFFFFF"/>
                </a:solidFill>
                <a:latin typeface="TT Interphases"/>
                <a:ea typeface="TT Interphases"/>
                <a:cs typeface="TT Interphases"/>
                <a:sym typeface="TT Interphases"/>
              </a:rPr>
              <a:t> Introduction</a:t>
            </a:r>
          </a:p>
          <a:p>
            <a:pPr algn="just" marL="1017759" indent="-508879" lvl="1">
              <a:lnSpc>
                <a:spcPts val="7353"/>
              </a:lnSpc>
              <a:buAutoNum type="arabicPeriod" startAt="1"/>
            </a:pPr>
            <a:r>
              <a:rPr lang="en-US" sz="4714">
                <a:solidFill>
                  <a:srgbClr val="FFFFFF"/>
                </a:solidFill>
                <a:latin typeface="TT Interphases"/>
                <a:ea typeface="TT Interphases"/>
                <a:cs typeface="TT Interphases"/>
                <a:sym typeface="TT Interphases"/>
              </a:rPr>
              <a:t> Nettoyage de la base</a:t>
            </a:r>
          </a:p>
          <a:p>
            <a:pPr algn="just" marL="1017759" indent="-508879" lvl="1">
              <a:lnSpc>
                <a:spcPts val="7353"/>
              </a:lnSpc>
              <a:buAutoNum type="arabicPeriod" startAt="1"/>
            </a:pPr>
            <a:r>
              <a:rPr lang="en-US" sz="4714">
                <a:solidFill>
                  <a:srgbClr val="FFFFFF"/>
                </a:solidFill>
                <a:latin typeface="TT Interphases"/>
                <a:ea typeface="TT Interphases"/>
                <a:cs typeface="TT Interphases"/>
                <a:sym typeface="TT Interphases"/>
              </a:rPr>
              <a:t> Subsistance des ménages</a:t>
            </a:r>
          </a:p>
          <a:p>
            <a:pPr algn="just" marL="1017759" indent="-508879" lvl="1">
              <a:lnSpc>
                <a:spcPts val="7353"/>
              </a:lnSpc>
              <a:buAutoNum type="arabicPeriod" startAt="1"/>
            </a:pPr>
            <a:r>
              <a:rPr lang="en-US" sz="4714">
                <a:solidFill>
                  <a:srgbClr val="FFFFFF"/>
                </a:solidFill>
                <a:latin typeface="TT Interphases"/>
                <a:ea typeface="TT Interphases"/>
                <a:cs typeface="TT Interphases"/>
                <a:sym typeface="TT Interphases"/>
              </a:rPr>
              <a:t>Vente du bétail durant la transhumance</a:t>
            </a:r>
          </a:p>
          <a:p>
            <a:pPr algn="just" marL="1017759" indent="-508879" lvl="1">
              <a:lnSpc>
                <a:spcPts val="7353"/>
              </a:lnSpc>
              <a:buAutoNum type="arabicPeriod" startAt="1"/>
            </a:pPr>
            <a:r>
              <a:rPr lang="en-US" sz="4714">
                <a:solidFill>
                  <a:srgbClr val="FFFFFF"/>
                </a:solidFill>
                <a:latin typeface="TT Interphases"/>
                <a:ea typeface="TT Interphases"/>
                <a:cs typeface="TT Interphases"/>
                <a:sym typeface="TT Interphases"/>
              </a:rPr>
              <a:t> Elevage et émigration</a:t>
            </a:r>
          </a:p>
          <a:p>
            <a:pPr algn="just" marL="1104116" indent="-552058" lvl="1">
              <a:lnSpc>
                <a:spcPts val="7977"/>
              </a:lnSpc>
              <a:buAutoNum type="arabicPeriod" startAt="1"/>
            </a:pPr>
            <a:r>
              <a:rPr lang="en-US" sz="5114">
                <a:solidFill>
                  <a:srgbClr val="FFFFFF"/>
                </a:solidFill>
                <a:latin typeface="TT Interphases"/>
                <a:ea typeface="TT Interphases"/>
                <a:cs typeface="TT Interphases"/>
                <a:sym typeface="TT Interphases"/>
              </a:rPr>
              <a:t> Conclusion</a:t>
            </a:r>
          </a:p>
        </p:txBody>
      </p:sp>
    </p:spTree>
  </p:cSld>
  <p:clrMapOvr>
    <a:masterClrMapping/>
  </p:clrMapOvr>
  <p:transition spd="fast">
    <p:fade/>
  </p:transition>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083B35"/>
        </a:solidFill>
      </p:bgPr>
    </p:bg>
    <p:spTree>
      <p:nvGrpSpPr>
        <p:cNvPr id="1" name=""/>
        <p:cNvGrpSpPr/>
        <p:nvPr/>
      </p:nvGrpSpPr>
      <p:grpSpPr>
        <a:xfrm>
          <a:off x="0" y="0"/>
          <a:ext cx="0" cy="0"/>
          <a:chOff x="0" y="0"/>
          <a:chExt cx="0" cy="0"/>
        </a:xfrm>
      </p:grpSpPr>
      <p:grpSp>
        <p:nvGrpSpPr>
          <p:cNvPr name="Group 2" id="2"/>
          <p:cNvGrpSpPr/>
          <p:nvPr/>
        </p:nvGrpSpPr>
        <p:grpSpPr>
          <a:xfrm rot="0">
            <a:off x="5985949" y="1974728"/>
            <a:ext cx="13231916" cy="9264060"/>
            <a:chOff x="0" y="0"/>
            <a:chExt cx="3484949" cy="2439917"/>
          </a:xfrm>
        </p:grpSpPr>
        <p:sp>
          <p:nvSpPr>
            <p:cNvPr name="Freeform 3" id="3"/>
            <p:cNvSpPr/>
            <p:nvPr/>
          </p:nvSpPr>
          <p:spPr>
            <a:xfrm flipH="false" flipV="false" rot="0">
              <a:off x="0" y="0"/>
              <a:ext cx="3484949" cy="2439917"/>
            </a:xfrm>
            <a:custGeom>
              <a:avLst/>
              <a:gdLst/>
              <a:ahLst/>
              <a:cxnLst/>
              <a:rect r="r" b="b" t="t" l="l"/>
              <a:pathLst>
                <a:path h="2439917" w="3484949">
                  <a:moveTo>
                    <a:pt x="58509" y="0"/>
                  </a:moveTo>
                  <a:lnTo>
                    <a:pt x="3426440" y="0"/>
                  </a:lnTo>
                  <a:cubicBezTo>
                    <a:pt x="3458754" y="0"/>
                    <a:pt x="3484949" y="26196"/>
                    <a:pt x="3484949" y="58509"/>
                  </a:cubicBezTo>
                  <a:lnTo>
                    <a:pt x="3484949" y="2381408"/>
                  </a:lnTo>
                  <a:cubicBezTo>
                    <a:pt x="3484949" y="2396925"/>
                    <a:pt x="3478785" y="2411807"/>
                    <a:pt x="3467812" y="2422780"/>
                  </a:cubicBezTo>
                  <a:cubicBezTo>
                    <a:pt x="3456840" y="2433753"/>
                    <a:pt x="3441957" y="2439917"/>
                    <a:pt x="3426440" y="2439917"/>
                  </a:cubicBezTo>
                  <a:lnTo>
                    <a:pt x="58509" y="2439917"/>
                  </a:lnTo>
                  <a:cubicBezTo>
                    <a:pt x="26196" y="2439917"/>
                    <a:pt x="0" y="2413722"/>
                    <a:pt x="0" y="2381408"/>
                  </a:cubicBezTo>
                  <a:lnTo>
                    <a:pt x="0" y="58509"/>
                  </a:lnTo>
                  <a:cubicBezTo>
                    <a:pt x="0" y="26196"/>
                    <a:pt x="26196" y="0"/>
                    <a:pt x="58509" y="0"/>
                  </a:cubicBezTo>
                  <a:close/>
                </a:path>
              </a:pathLst>
            </a:custGeom>
            <a:solidFill>
              <a:srgbClr val="124B44"/>
            </a:solidFill>
          </p:spPr>
        </p:sp>
        <p:sp>
          <p:nvSpPr>
            <p:cNvPr name="TextBox 4" id="4"/>
            <p:cNvSpPr txBox="true"/>
            <p:nvPr/>
          </p:nvSpPr>
          <p:spPr>
            <a:xfrm>
              <a:off x="0" y="-38100"/>
              <a:ext cx="3484949" cy="2478017"/>
            </a:xfrm>
            <a:prstGeom prst="rect">
              <a:avLst/>
            </a:prstGeom>
          </p:spPr>
          <p:txBody>
            <a:bodyPr anchor="ctr" rtlCol="false" tIns="50800" lIns="50800" bIns="50800" rIns="50800"/>
            <a:lstStyle/>
            <a:p>
              <a:pPr algn="ctr">
                <a:lnSpc>
                  <a:spcPts val="2659"/>
                </a:lnSpc>
                <a:spcBef>
                  <a:spcPct val="0"/>
                </a:spcBef>
              </a:pPr>
            </a:p>
          </p:txBody>
        </p:sp>
      </p:grpSp>
      <p:grpSp>
        <p:nvGrpSpPr>
          <p:cNvPr name="Group 5" id="5"/>
          <p:cNvGrpSpPr/>
          <p:nvPr/>
        </p:nvGrpSpPr>
        <p:grpSpPr>
          <a:xfrm rot="0">
            <a:off x="431997" y="-603395"/>
            <a:ext cx="5192002" cy="5746895"/>
            <a:chOff x="0" y="0"/>
            <a:chExt cx="1125034" cy="1245272"/>
          </a:xfrm>
        </p:grpSpPr>
        <p:sp>
          <p:nvSpPr>
            <p:cNvPr name="Freeform 6" id="6"/>
            <p:cNvSpPr/>
            <p:nvPr/>
          </p:nvSpPr>
          <p:spPr>
            <a:xfrm flipH="false" flipV="false" rot="0">
              <a:off x="0" y="0"/>
              <a:ext cx="1125034" cy="1245272"/>
            </a:xfrm>
            <a:custGeom>
              <a:avLst/>
              <a:gdLst/>
              <a:ahLst/>
              <a:cxnLst/>
              <a:rect r="r" b="b" t="t" l="l"/>
              <a:pathLst>
                <a:path h="1245272" w="1125034">
                  <a:moveTo>
                    <a:pt x="95432" y="0"/>
                  </a:moveTo>
                  <a:lnTo>
                    <a:pt x="1029602" y="0"/>
                  </a:lnTo>
                  <a:cubicBezTo>
                    <a:pt x="1082308" y="0"/>
                    <a:pt x="1125034" y="42726"/>
                    <a:pt x="1125034" y="95432"/>
                  </a:cubicBezTo>
                  <a:lnTo>
                    <a:pt x="1125034" y="1149840"/>
                  </a:lnTo>
                  <a:cubicBezTo>
                    <a:pt x="1125034" y="1175150"/>
                    <a:pt x="1114980" y="1199424"/>
                    <a:pt x="1097083" y="1217321"/>
                  </a:cubicBezTo>
                  <a:cubicBezTo>
                    <a:pt x="1079186" y="1235218"/>
                    <a:pt x="1054913" y="1245272"/>
                    <a:pt x="1029602" y="1245272"/>
                  </a:cubicBezTo>
                  <a:lnTo>
                    <a:pt x="95432" y="1245272"/>
                  </a:lnTo>
                  <a:cubicBezTo>
                    <a:pt x="70122" y="1245272"/>
                    <a:pt x="45848" y="1235218"/>
                    <a:pt x="27951" y="1217321"/>
                  </a:cubicBezTo>
                  <a:cubicBezTo>
                    <a:pt x="10054" y="1199424"/>
                    <a:pt x="0" y="1175150"/>
                    <a:pt x="0" y="1149840"/>
                  </a:cubicBezTo>
                  <a:lnTo>
                    <a:pt x="0" y="95432"/>
                  </a:lnTo>
                  <a:cubicBezTo>
                    <a:pt x="0" y="70122"/>
                    <a:pt x="10054" y="45848"/>
                    <a:pt x="27951" y="27951"/>
                  </a:cubicBezTo>
                  <a:cubicBezTo>
                    <a:pt x="45848" y="10054"/>
                    <a:pt x="70122" y="0"/>
                    <a:pt x="95432" y="0"/>
                  </a:cubicBezTo>
                  <a:close/>
                </a:path>
              </a:pathLst>
            </a:custGeom>
            <a:blipFill>
              <a:blip r:embed="rId2"/>
              <a:stretch>
                <a:fillRect l="-23791" t="0" r="-23791" b="0"/>
              </a:stretch>
            </a:blipFill>
          </p:spPr>
        </p:sp>
      </p:grpSp>
      <p:grpSp>
        <p:nvGrpSpPr>
          <p:cNvPr name="Group 7" id="7"/>
          <p:cNvGrpSpPr/>
          <p:nvPr/>
        </p:nvGrpSpPr>
        <p:grpSpPr>
          <a:xfrm rot="0">
            <a:off x="1522545" y="8199899"/>
            <a:ext cx="3810389" cy="1058401"/>
            <a:chOff x="0" y="0"/>
            <a:chExt cx="1033028" cy="286941"/>
          </a:xfrm>
        </p:grpSpPr>
        <p:sp>
          <p:nvSpPr>
            <p:cNvPr name="Freeform 8" id="8"/>
            <p:cNvSpPr/>
            <p:nvPr/>
          </p:nvSpPr>
          <p:spPr>
            <a:xfrm flipH="false" flipV="false" rot="0">
              <a:off x="0" y="0"/>
              <a:ext cx="1033028" cy="286941"/>
            </a:xfrm>
            <a:custGeom>
              <a:avLst/>
              <a:gdLst/>
              <a:ahLst/>
              <a:cxnLst/>
              <a:rect r="r" b="b" t="t" l="l"/>
              <a:pathLst>
                <a:path h="286941" w="1033028">
                  <a:moveTo>
                    <a:pt x="143471" y="0"/>
                  </a:moveTo>
                  <a:lnTo>
                    <a:pt x="889557" y="0"/>
                  </a:lnTo>
                  <a:cubicBezTo>
                    <a:pt x="927608" y="0"/>
                    <a:pt x="964100" y="15116"/>
                    <a:pt x="991006" y="42022"/>
                  </a:cubicBezTo>
                  <a:cubicBezTo>
                    <a:pt x="1017912" y="68928"/>
                    <a:pt x="1033028" y="105420"/>
                    <a:pt x="1033028" y="143471"/>
                  </a:cubicBezTo>
                  <a:lnTo>
                    <a:pt x="1033028" y="143471"/>
                  </a:lnTo>
                  <a:cubicBezTo>
                    <a:pt x="1033028" y="181521"/>
                    <a:pt x="1017912" y="218014"/>
                    <a:pt x="991006" y="244920"/>
                  </a:cubicBezTo>
                  <a:cubicBezTo>
                    <a:pt x="964100" y="271826"/>
                    <a:pt x="927608" y="286941"/>
                    <a:pt x="889557" y="286941"/>
                  </a:cubicBezTo>
                  <a:lnTo>
                    <a:pt x="143471" y="286941"/>
                  </a:lnTo>
                  <a:cubicBezTo>
                    <a:pt x="105420" y="286941"/>
                    <a:pt x="68928" y="271826"/>
                    <a:pt x="42022" y="244920"/>
                  </a:cubicBezTo>
                  <a:cubicBezTo>
                    <a:pt x="15116" y="218014"/>
                    <a:pt x="0" y="181521"/>
                    <a:pt x="0" y="143471"/>
                  </a:cubicBezTo>
                  <a:lnTo>
                    <a:pt x="0" y="143471"/>
                  </a:lnTo>
                  <a:cubicBezTo>
                    <a:pt x="0" y="105420"/>
                    <a:pt x="15116" y="68928"/>
                    <a:pt x="42022" y="42022"/>
                  </a:cubicBezTo>
                  <a:cubicBezTo>
                    <a:pt x="68928" y="15116"/>
                    <a:pt x="105420" y="0"/>
                    <a:pt x="143471" y="0"/>
                  </a:cubicBezTo>
                  <a:close/>
                </a:path>
              </a:pathLst>
            </a:custGeom>
            <a:solidFill>
              <a:srgbClr val="D6B611"/>
            </a:solidFill>
          </p:spPr>
        </p:sp>
        <p:sp>
          <p:nvSpPr>
            <p:cNvPr name="TextBox 9" id="9"/>
            <p:cNvSpPr txBox="true"/>
            <p:nvPr/>
          </p:nvSpPr>
          <p:spPr>
            <a:xfrm>
              <a:off x="0" y="-38100"/>
              <a:ext cx="1033028" cy="325041"/>
            </a:xfrm>
            <a:prstGeom prst="rect">
              <a:avLst/>
            </a:prstGeom>
          </p:spPr>
          <p:txBody>
            <a:bodyPr anchor="ctr" rtlCol="false" tIns="50800" lIns="50800" bIns="50800" rIns="50800"/>
            <a:lstStyle/>
            <a:p>
              <a:pPr algn="ctr">
                <a:lnSpc>
                  <a:spcPts val="2659"/>
                </a:lnSpc>
              </a:pPr>
            </a:p>
          </p:txBody>
        </p:sp>
      </p:grpSp>
      <p:grpSp>
        <p:nvGrpSpPr>
          <p:cNvPr name="Group 10" id="10"/>
          <p:cNvGrpSpPr/>
          <p:nvPr/>
        </p:nvGrpSpPr>
        <p:grpSpPr>
          <a:xfrm rot="0">
            <a:off x="4266929" y="8199899"/>
            <a:ext cx="1066005" cy="1058401"/>
            <a:chOff x="0" y="0"/>
            <a:chExt cx="289003" cy="286941"/>
          </a:xfrm>
        </p:grpSpPr>
        <p:sp>
          <p:nvSpPr>
            <p:cNvPr name="Freeform 11" id="11"/>
            <p:cNvSpPr/>
            <p:nvPr/>
          </p:nvSpPr>
          <p:spPr>
            <a:xfrm flipH="false" flipV="false" rot="0">
              <a:off x="0" y="0"/>
              <a:ext cx="289003" cy="286941"/>
            </a:xfrm>
            <a:custGeom>
              <a:avLst/>
              <a:gdLst/>
              <a:ahLst/>
              <a:cxnLst/>
              <a:rect r="r" b="b" t="t" l="l"/>
              <a:pathLst>
                <a:path h="286941" w="289003">
                  <a:moveTo>
                    <a:pt x="143471" y="0"/>
                  </a:moveTo>
                  <a:lnTo>
                    <a:pt x="145532" y="0"/>
                  </a:lnTo>
                  <a:cubicBezTo>
                    <a:pt x="183583" y="0"/>
                    <a:pt x="220075" y="15116"/>
                    <a:pt x="246981" y="42022"/>
                  </a:cubicBezTo>
                  <a:cubicBezTo>
                    <a:pt x="273887" y="68928"/>
                    <a:pt x="289003" y="105420"/>
                    <a:pt x="289003" y="143471"/>
                  </a:cubicBezTo>
                  <a:lnTo>
                    <a:pt x="289003" y="143471"/>
                  </a:lnTo>
                  <a:cubicBezTo>
                    <a:pt x="289003" y="181521"/>
                    <a:pt x="273887" y="218014"/>
                    <a:pt x="246981" y="244920"/>
                  </a:cubicBezTo>
                  <a:cubicBezTo>
                    <a:pt x="220075" y="271826"/>
                    <a:pt x="183583" y="286941"/>
                    <a:pt x="145532" y="286941"/>
                  </a:cubicBezTo>
                  <a:lnTo>
                    <a:pt x="143471" y="286941"/>
                  </a:lnTo>
                  <a:cubicBezTo>
                    <a:pt x="105420" y="286941"/>
                    <a:pt x="68928" y="271826"/>
                    <a:pt x="42022" y="244920"/>
                  </a:cubicBezTo>
                  <a:cubicBezTo>
                    <a:pt x="15116" y="218014"/>
                    <a:pt x="0" y="181521"/>
                    <a:pt x="0" y="143471"/>
                  </a:cubicBezTo>
                  <a:lnTo>
                    <a:pt x="0" y="143471"/>
                  </a:lnTo>
                  <a:cubicBezTo>
                    <a:pt x="0" y="105420"/>
                    <a:pt x="15116" y="68928"/>
                    <a:pt x="42022" y="42022"/>
                  </a:cubicBezTo>
                  <a:cubicBezTo>
                    <a:pt x="68928" y="15116"/>
                    <a:pt x="105420" y="0"/>
                    <a:pt x="143471" y="0"/>
                  </a:cubicBezTo>
                  <a:close/>
                </a:path>
              </a:pathLst>
            </a:custGeom>
            <a:solidFill>
              <a:srgbClr val="FFFFFF"/>
            </a:solidFill>
          </p:spPr>
        </p:sp>
        <p:sp>
          <p:nvSpPr>
            <p:cNvPr name="TextBox 12" id="12"/>
            <p:cNvSpPr txBox="true"/>
            <p:nvPr/>
          </p:nvSpPr>
          <p:spPr>
            <a:xfrm>
              <a:off x="0" y="-38100"/>
              <a:ext cx="289003" cy="325041"/>
            </a:xfrm>
            <a:prstGeom prst="rect">
              <a:avLst/>
            </a:prstGeom>
          </p:spPr>
          <p:txBody>
            <a:bodyPr anchor="ctr" rtlCol="false" tIns="50800" lIns="50800" bIns="50800" rIns="50800"/>
            <a:lstStyle/>
            <a:p>
              <a:pPr algn="ctr">
                <a:lnSpc>
                  <a:spcPts val="2659"/>
                </a:lnSpc>
              </a:pPr>
            </a:p>
          </p:txBody>
        </p:sp>
      </p:grpSp>
      <p:sp>
        <p:nvSpPr>
          <p:cNvPr name="Freeform 13" id="13"/>
          <p:cNvSpPr/>
          <p:nvPr/>
        </p:nvSpPr>
        <p:spPr>
          <a:xfrm flipH="false" flipV="false" rot="-5400000">
            <a:off x="4631939" y="8483953"/>
            <a:ext cx="362818" cy="490294"/>
          </a:xfrm>
          <a:custGeom>
            <a:avLst/>
            <a:gdLst/>
            <a:ahLst/>
            <a:cxnLst/>
            <a:rect r="r" b="b" t="t" l="l"/>
            <a:pathLst>
              <a:path h="490294" w="362818">
                <a:moveTo>
                  <a:pt x="0" y="0"/>
                </a:moveTo>
                <a:lnTo>
                  <a:pt x="362817" y="0"/>
                </a:lnTo>
                <a:lnTo>
                  <a:pt x="362817" y="490294"/>
                </a:lnTo>
                <a:lnTo>
                  <a:pt x="0" y="49029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4" id="14"/>
          <p:cNvSpPr txBox="true"/>
          <p:nvPr/>
        </p:nvSpPr>
        <p:spPr>
          <a:xfrm rot="0">
            <a:off x="1849913" y="8425802"/>
            <a:ext cx="2356171" cy="549446"/>
          </a:xfrm>
          <a:prstGeom prst="rect">
            <a:avLst/>
          </a:prstGeom>
        </p:spPr>
        <p:txBody>
          <a:bodyPr anchor="t" rtlCol="false" tIns="0" lIns="0" bIns="0" rIns="0">
            <a:spAutoFit/>
          </a:bodyPr>
          <a:lstStyle/>
          <a:p>
            <a:pPr algn="ctr">
              <a:lnSpc>
                <a:spcPts val="4575"/>
              </a:lnSpc>
            </a:pPr>
            <a:r>
              <a:rPr lang="en-US" sz="3268">
                <a:solidFill>
                  <a:srgbClr val="083B35"/>
                </a:solidFill>
                <a:latin typeface="TT Interphases"/>
                <a:ea typeface="TT Interphases"/>
                <a:cs typeface="TT Interphases"/>
                <a:sym typeface="TT Interphases"/>
              </a:rPr>
              <a:t>Next Slide</a:t>
            </a:r>
          </a:p>
        </p:txBody>
      </p:sp>
      <p:sp>
        <p:nvSpPr>
          <p:cNvPr name="TextBox 15" id="15"/>
          <p:cNvSpPr txBox="true"/>
          <p:nvPr/>
        </p:nvSpPr>
        <p:spPr>
          <a:xfrm rot="0">
            <a:off x="8348951" y="505826"/>
            <a:ext cx="8910349" cy="1074324"/>
          </a:xfrm>
          <a:prstGeom prst="rect">
            <a:avLst/>
          </a:prstGeom>
        </p:spPr>
        <p:txBody>
          <a:bodyPr anchor="t" rtlCol="false" tIns="0" lIns="0" bIns="0" rIns="0">
            <a:spAutoFit/>
          </a:bodyPr>
          <a:lstStyle/>
          <a:p>
            <a:pPr algn="l">
              <a:lnSpc>
                <a:spcPts val="8478"/>
              </a:lnSpc>
            </a:pPr>
            <a:r>
              <a:rPr lang="en-US" sz="7246">
                <a:solidFill>
                  <a:srgbClr val="FFFFFF"/>
                </a:solidFill>
                <a:latin typeface="League Spartan"/>
                <a:ea typeface="League Spartan"/>
                <a:cs typeface="League Spartan"/>
                <a:sym typeface="League Spartan"/>
              </a:rPr>
              <a:t>INTRODUCTION</a:t>
            </a:r>
          </a:p>
        </p:txBody>
      </p:sp>
      <p:sp>
        <p:nvSpPr>
          <p:cNvPr name="TextBox 16" id="16"/>
          <p:cNvSpPr txBox="true"/>
          <p:nvPr/>
        </p:nvSpPr>
        <p:spPr>
          <a:xfrm rot="0">
            <a:off x="6364397" y="2013922"/>
            <a:ext cx="11395040" cy="8273078"/>
          </a:xfrm>
          <a:prstGeom prst="rect">
            <a:avLst/>
          </a:prstGeom>
        </p:spPr>
        <p:txBody>
          <a:bodyPr anchor="t" rtlCol="false" tIns="0" lIns="0" bIns="0" rIns="0">
            <a:spAutoFit/>
          </a:bodyPr>
          <a:lstStyle/>
          <a:p>
            <a:pPr algn="just">
              <a:lnSpc>
                <a:spcPts val="4363"/>
              </a:lnSpc>
            </a:pPr>
            <a:r>
              <a:rPr lang="en-US" sz="3356" spc="-93">
                <a:solidFill>
                  <a:srgbClr val="FEF3EA"/>
                </a:solidFill>
                <a:latin typeface="Canva Sans"/>
                <a:ea typeface="Canva Sans"/>
                <a:cs typeface="Canva Sans"/>
                <a:sym typeface="Canva Sans"/>
              </a:rPr>
              <a:t>Dans le Sahel, la mobilité du bétail est une stratégie essentielle pour les pasteurs et agropasteurs afin de faire face aux défis climatiques et économiques. Le projet, "</a:t>
            </a:r>
            <a:r>
              <a:rPr lang="en-US" b="true" sz="3356" spc="-93">
                <a:solidFill>
                  <a:srgbClr val="FEF3EA"/>
                </a:solidFill>
                <a:latin typeface="Canva Sans Bold"/>
                <a:ea typeface="Canva Sans Bold"/>
                <a:cs typeface="Canva Sans Bold"/>
                <a:sym typeface="Canva Sans Bold"/>
              </a:rPr>
              <a:t>Renforcement de la Résilience à travers la Mobilité du Bétail en Afrique de l’Ouest</a:t>
            </a:r>
            <a:r>
              <a:rPr lang="en-US" sz="3356" spc="-93">
                <a:solidFill>
                  <a:srgbClr val="FEF3EA"/>
                </a:solidFill>
                <a:latin typeface="Canva Sans"/>
                <a:ea typeface="Canva Sans"/>
                <a:cs typeface="Canva Sans"/>
                <a:sym typeface="Canva Sans"/>
              </a:rPr>
              <a:t>", couvre cinq pays :</a:t>
            </a:r>
          </a:p>
          <a:p>
            <a:pPr algn="just">
              <a:lnSpc>
                <a:spcPts val="4363"/>
              </a:lnSpc>
            </a:pPr>
            <a:r>
              <a:rPr lang="en-US" sz="3356" spc="-93">
                <a:solidFill>
                  <a:srgbClr val="FEF3EA"/>
                </a:solidFill>
                <a:latin typeface="Canva Sans"/>
                <a:ea typeface="Canva Sans"/>
                <a:cs typeface="Canva Sans"/>
                <a:sym typeface="Canva Sans"/>
              </a:rPr>
              <a:t> </a:t>
            </a:r>
            <a:r>
              <a:rPr lang="en-US" b="true" sz="3356" spc="-93">
                <a:solidFill>
                  <a:srgbClr val="FEF3EA"/>
                </a:solidFill>
                <a:latin typeface="Canva Sans Bold"/>
                <a:ea typeface="Canva Sans Bold"/>
                <a:cs typeface="Canva Sans Bold"/>
                <a:sym typeface="Canva Sans Bold"/>
              </a:rPr>
              <a:t>Niger , Burkina Faso , Mali , Mauritanie , Sénégal</a:t>
            </a:r>
          </a:p>
          <a:p>
            <a:pPr algn="just">
              <a:lnSpc>
                <a:spcPts val="4363"/>
              </a:lnSpc>
            </a:pPr>
          </a:p>
          <a:p>
            <a:pPr algn="just">
              <a:lnSpc>
                <a:spcPts val="4363"/>
              </a:lnSpc>
            </a:pPr>
            <a:r>
              <a:rPr lang="en-US" sz="3356" spc="-93">
                <a:solidFill>
                  <a:srgbClr val="FEF3EA"/>
                </a:solidFill>
                <a:latin typeface="Canva Sans"/>
                <a:ea typeface="Canva Sans"/>
                <a:cs typeface="Canva Sans"/>
                <a:sym typeface="Canva Sans"/>
              </a:rPr>
              <a:t>La base fournie dans le cadre de ce TP est issue  d’une enquête auprès de 350 familles pastorales et agropastorales. </a:t>
            </a:r>
            <a:r>
              <a:rPr lang="en-US" sz="3356" spc="-93">
                <a:solidFill>
                  <a:srgbClr val="FEF3EA"/>
                </a:solidFill>
                <a:latin typeface="Canva Sans"/>
                <a:ea typeface="Canva Sans"/>
                <a:cs typeface="Canva Sans"/>
                <a:sym typeface="Canva Sans"/>
              </a:rPr>
              <a:t>L’objectif est d’analyser les stratégies de mobilité et de mieux comprendre le rôle de la transhumance dans la résilience des communautés. Cette étude  permettra d’examiner les dynamiques entre élevage, mobilité et émigration.</a:t>
            </a:r>
          </a:p>
          <a:p>
            <a:pPr algn="just">
              <a:lnSpc>
                <a:spcPts val="4285"/>
              </a:lnSpc>
            </a:pPr>
          </a:p>
        </p:txBody>
      </p:sp>
    </p:spTree>
  </p:cSld>
  <p:clrMapOvr>
    <a:masterClrMapping/>
  </p:clrMapOvr>
  <p:transition spd="fast">
    <p:push dir="l"/>
  </p:transition>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083B35"/>
        </a:solidFill>
      </p:bgPr>
    </p:bg>
    <p:spTree>
      <p:nvGrpSpPr>
        <p:cNvPr id="1" name=""/>
        <p:cNvGrpSpPr/>
        <p:nvPr/>
      </p:nvGrpSpPr>
      <p:grpSpPr>
        <a:xfrm>
          <a:off x="0" y="0"/>
          <a:ext cx="0" cy="0"/>
          <a:chOff x="0" y="0"/>
          <a:chExt cx="0" cy="0"/>
        </a:xfrm>
      </p:grpSpPr>
      <p:grpSp>
        <p:nvGrpSpPr>
          <p:cNvPr name="Group 2" id="2"/>
          <p:cNvGrpSpPr/>
          <p:nvPr/>
        </p:nvGrpSpPr>
        <p:grpSpPr>
          <a:xfrm rot="0">
            <a:off x="-982942" y="-1678833"/>
            <a:ext cx="10048730" cy="6503907"/>
            <a:chOff x="0" y="0"/>
            <a:chExt cx="2646579" cy="1712963"/>
          </a:xfrm>
        </p:grpSpPr>
        <p:sp>
          <p:nvSpPr>
            <p:cNvPr name="Freeform 3" id="3"/>
            <p:cNvSpPr/>
            <p:nvPr/>
          </p:nvSpPr>
          <p:spPr>
            <a:xfrm flipH="false" flipV="false" rot="0">
              <a:off x="0" y="0"/>
              <a:ext cx="2646579" cy="1712963"/>
            </a:xfrm>
            <a:custGeom>
              <a:avLst/>
              <a:gdLst/>
              <a:ahLst/>
              <a:cxnLst/>
              <a:rect r="r" b="b" t="t" l="l"/>
              <a:pathLst>
                <a:path h="1712963" w="2646579">
                  <a:moveTo>
                    <a:pt x="77044" y="0"/>
                  </a:moveTo>
                  <a:lnTo>
                    <a:pt x="2569535" y="0"/>
                  </a:lnTo>
                  <a:cubicBezTo>
                    <a:pt x="2589968" y="0"/>
                    <a:pt x="2609565" y="8117"/>
                    <a:pt x="2624013" y="22566"/>
                  </a:cubicBezTo>
                  <a:cubicBezTo>
                    <a:pt x="2638462" y="37014"/>
                    <a:pt x="2646579" y="56610"/>
                    <a:pt x="2646579" y="77044"/>
                  </a:cubicBezTo>
                  <a:lnTo>
                    <a:pt x="2646579" y="1635920"/>
                  </a:lnTo>
                  <a:cubicBezTo>
                    <a:pt x="2646579" y="1656353"/>
                    <a:pt x="2638462" y="1675949"/>
                    <a:pt x="2624013" y="1690398"/>
                  </a:cubicBezTo>
                  <a:cubicBezTo>
                    <a:pt x="2609565" y="1704846"/>
                    <a:pt x="2589968" y="1712963"/>
                    <a:pt x="2569535" y="1712963"/>
                  </a:cubicBezTo>
                  <a:lnTo>
                    <a:pt x="77044" y="1712963"/>
                  </a:lnTo>
                  <a:cubicBezTo>
                    <a:pt x="56610" y="1712963"/>
                    <a:pt x="37014" y="1704846"/>
                    <a:pt x="22566" y="1690398"/>
                  </a:cubicBezTo>
                  <a:cubicBezTo>
                    <a:pt x="8117" y="1675949"/>
                    <a:pt x="0" y="1656353"/>
                    <a:pt x="0" y="1635920"/>
                  </a:cubicBezTo>
                  <a:lnTo>
                    <a:pt x="0" y="77044"/>
                  </a:lnTo>
                  <a:cubicBezTo>
                    <a:pt x="0" y="56610"/>
                    <a:pt x="8117" y="37014"/>
                    <a:pt x="22566" y="22566"/>
                  </a:cubicBezTo>
                  <a:cubicBezTo>
                    <a:pt x="37014" y="8117"/>
                    <a:pt x="56610" y="0"/>
                    <a:pt x="77044" y="0"/>
                  </a:cubicBezTo>
                  <a:close/>
                </a:path>
              </a:pathLst>
            </a:custGeom>
            <a:solidFill>
              <a:srgbClr val="124B44"/>
            </a:solidFill>
          </p:spPr>
        </p:sp>
        <p:sp>
          <p:nvSpPr>
            <p:cNvPr name="TextBox 4" id="4"/>
            <p:cNvSpPr txBox="true"/>
            <p:nvPr/>
          </p:nvSpPr>
          <p:spPr>
            <a:xfrm>
              <a:off x="0" y="-38100"/>
              <a:ext cx="2646579" cy="1751063"/>
            </a:xfrm>
            <a:prstGeom prst="rect">
              <a:avLst/>
            </a:prstGeom>
          </p:spPr>
          <p:txBody>
            <a:bodyPr anchor="ctr" rtlCol="false" tIns="50800" lIns="50800" bIns="50800" rIns="50800"/>
            <a:lstStyle/>
            <a:p>
              <a:pPr algn="ctr">
                <a:lnSpc>
                  <a:spcPts val="2659"/>
                </a:lnSpc>
                <a:spcBef>
                  <a:spcPct val="0"/>
                </a:spcBef>
              </a:pPr>
            </a:p>
          </p:txBody>
        </p:sp>
      </p:grpSp>
      <p:grpSp>
        <p:nvGrpSpPr>
          <p:cNvPr name="Group 5" id="5"/>
          <p:cNvGrpSpPr/>
          <p:nvPr/>
        </p:nvGrpSpPr>
        <p:grpSpPr>
          <a:xfrm rot="0">
            <a:off x="8243068" y="5143500"/>
            <a:ext cx="11437355" cy="6871097"/>
            <a:chOff x="0" y="0"/>
            <a:chExt cx="3012307" cy="1809672"/>
          </a:xfrm>
        </p:grpSpPr>
        <p:sp>
          <p:nvSpPr>
            <p:cNvPr name="Freeform 6" id="6"/>
            <p:cNvSpPr/>
            <p:nvPr/>
          </p:nvSpPr>
          <p:spPr>
            <a:xfrm flipH="false" flipV="false" rot="0">
              <a:off x="0" y="0"/>
              <a:ext cx="3012307" cy="1809672"/>
            </a:xfrm>
            <a:custGeom>
              <a:avLst/>
              <a:gdLst/>
              <a:ahLst/>
              <a:cxnLst/>
              <a:rect r="r" b="b" t="t" l="l"/>
              <a:pathLst>
                <a:path h="1809672" w="3012307">
                  <a:moveTo>
                    <a:pt x="67690" y="0"/>
                  </a:moveTo>
                  <a:lnTo>
                    <a:pt x="2944618" y="0"/>
                  </a:lnTo>
                  <a:cubicBezTo>
                    <a:pt x="2982002" y="0"/>
                    <a:pt x="3012307" y="30306"/>
                    <a:pt x="3012307" y="67690"/>
                  </a:cubicBezTo>
                  <a:lnTo>
                    <a:pt x="3012307" y="1741982"/>
                  </a:lnTo>
                  <a:cubicBezTo>
                    <a:pt x="3012307" y="1779366"/>
                    <a:pt x="2982002" y="1809672"/>
                    <a:pt x="2944618" y="1809672"/>
                  </a:cubicBezTo>
                  <a:lnTo>
                    <a:pt x="67690" y="1809672"/>
                  </a:lnTo>
                  <a:cubicBezTo>
                    <a:pt x="30306" y="1809672"/>
                    <a:pt x="0" y="1779366"/>
                    <a:pt x="0" y="1741982"/>
                  </a:cubicBezTo>
                  <a:lnTo>
                    <a:pt x="0" y="67690"/>
                  </a:lnTo>
                  <a:cubicBezTo>
                    <a:pt x="0" y="30306"/>
                    <a:pt x="30306" y="0"/>
                    <a:pt x="67690" y="0"/>
                  </a:cubicBezTo>
                  <a:close/>
                </a:path>
              </a:pathLst>
            </a:custGeom>
            <a:solidFill>
              <a:srgbClr val="124B44"/>
            </a:solidFill>
          </p:spPr>
        </p:sp>
        <p:sp>
          <p:nvSpPr>
            <p:cNvPr name="TextBox 7" id="7"/>
            <p:cNvSpPr txBox="true"/>
            <p:nvPr/>
          </p:nvSpPr>
          <p:spPr>
            <a:xfrm>
              <a:off x="0" y="-38100"/>
              <a:ext cx="3012307" cy="1847772"/>
            </a:xfrm>
            <a:prstGeom prst="rect">
              <a:avLst/>
            </a:prstGeom>
          </p:spPr>
          <p:txBody>
            <a:bodyPr anchor="ctr" rtlCol="false" tIns="50800" lIns="50800" bIns="50800" rIns="50800"/>
            <a:lstStyle/>
            <a:p>
              <a:pPr algn="ctr">
                <a:lnSpc>
                  <a:spcPts val="2659"/>
                </a:lnSpc>
                <a:spcBef>
                  <a:spcPct val="0"/>
                </a:spcBef>
              </a:pPr>
            </a:p>
          </p:txBody>
        </p:sp>
      </p:grpSp>
      <p:sp>
        <p:nvSpPr>
          <p:cNvPr name="TextBox 8" id="8"/>
          <p:cNvSpPr txBox="true"/>
          <p:nvPr/>
        </p:nvSpPr>
        <p:spPr>
          <a:xfrm rot="0">
            <a:off x="9065788" y="5912733"/>
            <a:ext cx="8028281" cy="467633"/>
          </a:xfrm>
          <a:prstGeom prst="rect">
            <a:avLst/>
          </a:prstGeom>
        </p:spPr>
        <p:txBody>
          <a:bodyPr anchor="t" rtlCol="false" tIns="0" lIns="0" bIns="0" rIns="0">
            <a:spAutoFit/>
          </a:bodyPr>
          <a:lstStyle/>
          <a:p>
            <a:pPr algn="l">
              <a:lnSpc>
                <a:spcPts val="3807"/>
              </a:lnSpc>
            </a:pPr>
            <a:r>
              <a:rPr lang="en-US" sz="2928" spc="117">
                <a:solidFill>
                  <a:srgbClr val="D6B611"/>
                </a:solidFill>
                <a:latin typeface="League Spartan"/>
                <a:ea typeface="League Spartan"/>
                <a:cs typeface="League Spartan"/>
                <a:sym typeface="League Spartan"/>
              </a:rPr>
              <a:t>FAMILLE PRATIQUANT L’AGRICULTURE</a:t>
            </a:r>
          </a:p>
        </p:txBody>
      </p:sp>
      <p:sp>
        <p:nvSpPr>
          <p:cNvPr name="TextBox 9" id="9"/>
          <p:cNvSpPr txBox="true"/>
          <p:nvPr/>
        </p:nvSpPr>
        <p:spPr>
          <a:xfrm rot="0">
            <a:off x="608864" y="2075648"/>
            <a:ext cx="7634205" cy="2615565"/>
          </a:xfrm>
          <a:prstGeom prst="rect">
            <a:avLst/>
          </a:prstGeom>
        </p:spPr>
        <p:txBody>
          <a:bodyPr anchor="t" rtlCol="false" tIns="0" lIns="0" bIns="0" rIns="0">
            <a:spAutoFit/>
          </a:bodyPr>
          <a:lstStyle/>
          <a:p>
            <a:pPr algn="just">
              <a:lnSpc>
                <a:spcPts val="3524"/>
              </a:lnSpc>
            </a:pPr>
            <a:r>
              <a:rPr lang="en-US" sz="2349">
                <a:solidFill>
                  <a:srgbClr val="FFFFFF"/>
                </a:solidFill>
                <a:latin typeface="TT Interphases"/>
                <a:ea typeface="TT Interphases"/>
                <a:cs typeface="TT Interphases"/>
                <a:sym typeface="TT Interphases"/>
              </a:rPr>
              <a:t>La taille moyenne des ménages en Équivalent Adulte (EA) dans notre base de données est de 19,99 EA. Le Sénégal et le Burkina Faso présentent les valeurs les plus élevées, avec respectivement 25,26 EA et 23,34 EA, tandis que les tailles les plus faibles sont observées en Mauritanie (15,15 EA) et au Niger (16,96 EA).</a:t>
            </a:r>
          </a:p>
        </p:txBody>
      </p:sp>
      <p:sp>
        <p:nvSpPr>
          <p:cNvPr name="AutoShape 10" id="10"/>
          <p:cNvSpPr/>
          <p:nvPr/>
        </p:nvSpPr>
        <p:spPr>
          <a:xfrm rot="0">
            <a:off x="1028700" y="1787498"/>
            <a:ext cx="6495400" cy="50025"/>
          </a:xfrm>
          <a:prstGeom prst="rect">
            <a:avLst/>
          </a:prstGeom>
          <a:solidFill>
            <a:srgbClr val="FFFFFF"/>
          </a:solidFill>
        </p:spPr>
      </p:sp>
      <p:sp>
        <p:nvSpPr>
          <p:cNvPr name="TextBox 11" id="11"/>
          <p:cNvSpPr txBox="true"/>
          <p:nvPr/>
        </p:nvSpPr>
        <p:spPr>
          <a:xfrm rot="0">
            <a:off x="1025218" y="1077821"/>
            <a:ext cx="6502365" cy="495300"/>
          </a:xfrm>
          <a:prstGeom prst="rect">
            <a:avLst/>
          </a:prstGeom>
        </p:spPr>
        <p:txBody>
          <a:bodyPr anchor="t" rtlCol="false" tIns="0" lIns="0" bIns="0" rIns="0">
            <a:spAutoFit/>
          </a:bodyPr>
          <a:lstStyle/>
          <a:p>
            <a:pPr algn="l">
              <a:lnSpc>
                <a:spcPts val="3900"/>
              </a:lnSpc>
            </a:pPr>
            <a:r>
              <a:rPr lang="en-US" sz="3000" spc="120">
                <a:solidFill>
                  <a:srgbClr val="D6B611"/>
                </a:solidFill>
                <a:latin typeface="League Spartan"/>
                <a:ea typeface="League Spartan"/>
                <a:cs typeface="League Spartan"/>
                <a:sym typeface="League Spartan"/>
              </a:rPr>
              <a:t>TAILLE MOYENNE EN EA</a:t>
            </a:r>
          </a:p>
        </p:txBody>
      </p:sp>
      <p:sp>
        <p:nvSpPr>
          <p:cNvPr name="TextBox 12" id="12"/>
          <p:cNvSpPr txBox="true"/>
          <p:nvPr/>
        </p:nvSpPr>
        <p:spPr>
          <a:xfrm rot="0">
            <a:off x="9065788" y="6991321"/>
            <a:ext cx="8193512" cy="2442210"/>
          </a:xfrm>
          <a:prstGeom prst="rect">
            <a:avLst/>
          </a:prstGeom>
        </p:spPr>
        <p:txBody>
          <a:bodyPr anchor="t" rtlCol="false" tIns="0" lIns="0" bIns="0" rIns="0">
            <a:spAutoFit/>
          </a:bodyPr>
          <a:lstStyle/>
          <a:p>
            <a:pPr algn="just">
              <a:lnSpc>
                <a:spcPts val="3225"/>
              </a:lnSpc>
            </a:pPr>
            <a:r>
              <a:rPr lang="en-US" sz="2150">
                <a:solidFill>
                  <a:srgbClr val="FFFFFF"/>
                </a:solidFill>
                <a:latin typeface="TT Interphases"/>
                <a:ea typeface="TT Interphases"/>
                <a:cs typeface="TT Interphases"/>
                <a:sym typeface="TT Interphases"/>
              </a:rPr>
              <a:t>Globalement, plus de 50 % des familles exercent l'agriculture en complément de l'élevage, quelle que soit la nation observée. Toutefois, le Burkina Faso et le Niger se distinguent nettement avec des proportions de 100 % et 94,29 %, respectivement. De même, la Mauritanie, le Sénégal et le Mali affichent des taux significatifs, s'élevant respectivement à 62,86 %, 60 % et 57,14 %.</a:t>
            </a:r>
          </a:p>
        </p:txBody>
      </p:sp>
      <p:sp>
        <p:nvSpPr>
          <p:cNvPr name="AutoShape 13" id="13"/>
          <p:cNvSpPr/>
          <p:nvPr/>
        </p:nvSpPr>
        <p:spPr>
          <a:xfrm rot="0">
            <a:off x="9199798" y="6694691"/>
            <a:ext cx="6495400" cy="50025"/>
          </a:xfrm>
          <a:prstGeom prst="rect">
            <a:avLst/>
          </a:prstGeom>
          <a:solidFill>
            <a:srgbClr val="FFFFFF"/>
          </a:solidFill>
        </p:spPr>
      </p:sp>
      <p:grpSp>
        <p:nvGrpSpPr>
          <p:cNvPr name="Group 14" id="14"/>
          <p:cNvGrpSpPr/>
          <p:nvPr/>
        </p:nvGrpSpPr>
        <p:grpSpPr>
          <a:xfrm rot="0">
            <a:off x="17252335" y="9228599"/>
            <a:ext cx="1000215" cy="1058401"/>
            <a:chOff x="0" y="0"/>
            <a:chExt cx="271167" cy="286941"/>
          </a:xfrm>
        </p:grpSpPr>
        <p:sp>
          <p:nvSpPr>
            <p:cNvPr name="Freeform 15" id="15"/>
            <p:cNvSpPr/>
            <p:nvPr/>
          </p:nvSpPr>
          <p:spPr>
            <a:xfrm flipH="false" flipV="false" rot="0">
              <a:off x="0" y="0"/>
              <a:ext cx="271167" cy="286941"/>
            </a:xfrm>
            <a:custGeom>
              <a:avLst/>
              <a:gdLst/>
              <a:ahLst/>
              <a:cxnLst/>
              <a:rect r="r" b="b" t="t" l="l"/>
              <a:pathLst>
                <a:path h="286941" w="271167">
                  <a:moveTo>
                    <a:pt x="135583" y="0"/>
                  </a:moveTo>
                  <a:lnTo>
                    <a:pt x="135583" y="0"/>
                  </a:lnTo>
                  <a:cubicBezTo>
                    <a:pt x="210464" y="0"/>
                    <a:pt x="271167" y="60703"/>
                    <a:pt x="271167" y="135583"/>
                  </a:cubicBezTo>
                  <a:lnTo>
                    <a:pt x="271167" y="151358"/>
                  </a:lnTo>
                  <a:cubicBezTo>
                    <a:pt x="271167" y="187317"/>
                    <a:pt x="256882" y="221803"/>
                    <a:pt x="231455" y="247230"/>
                  </a:cubicBezTo>
                  <a:cubicBezTo>
                    <a:pt x="206028" y="272656"/>
                    <a:pt x="171542" y="286941"/>
                    <a:pt x="135583" y="286941"/>
                  </a:cubicBezTo>
                  <a:lnTo>
                    <a:pt x="135583" y="286941"/>
                  </a:lnTo>
                  <a:cubicBezTo>
                    <a:pt x="60703" y="286941"/>
                    <a:pt x="0" y="226238"/>
                    <a:pt x="0" y="151358"/>
                  </a:cubicBezTo>
                  <a:lnTo>
                    <a:pt x="0" y="135583"/>
                  </a:lnTo>
                  <a:cubicBezTo>
                    <a:pt x="0" y="99624"/>
                    <a:pt x="14285" y="65138"/>
                    <a:pt x="39711" y="39711"/>
                  </a:cubicBezTo>
                  <a:cubicBezTo>
                    <a:pt x="65138" y="14285"/>
                    <a:pt x="99624" y="0"/>
                    <a:pt x="135583" y="0"/>
                  </a:cubicBezTo>
                  <a:close/>
                </a:path>
              </a:pathLst>
            </a:custGeom>
            <a:solidFill>
              <a:srgbClr val="FFFFFF"/>
            </a:solidFill>
          </p:spPr>
        </p:sp>
        <p:sp>
          <p:nvSpPr>
            <p:cNvPr name="TextBox 16" id="16"/>
            <p:cNvSpPr txBox="true"/>
            <p:nvPr/>
          </p:nvSpPr>
          <p:spPr>
            <a:xfrm>
              <a:off x="0" y="-38100"/>
              <a:ext cx="271167" cy="325041"/>
            </a:xfrm>
            <a:prstGeom prst="rect">
              <a:avLst/>
            </a:prstGeom>
          </p:spPr>
          <p:txBody>
            <a:bodyPr anchor="ctr" rtlCol="false" tIns="50800" lIns="50800" bIns="50800" rIns="50800"/>
            <a:lstStyle/>
            <a:p>
              <a:pPr algn="ctr">
                <a:lnSpc>
                  <a:spcPts val="2659"/>
                </a:lnSpc>
              </a:pPr>
            </a:p>
          </p:txBody>
        </p:sp>
      </p:grpSp>
      <p:grpSp>
        <p:nvGrpSpPr>
          <p:cNvPr name="Group 17" id="17"/>
          <p:cNvGrpSpPr/>
          <p:nvPr/>
        </p:nvGrpSpPr>
        <p:grpSpPr>
          <a:xfrm rot="0">
            <a:off x="-399741" y="-196416"/>
            <a:ext cx="3810389" cy="1058401"/>
            <a:chOff x="0" y="0"/>
            <a:chExt cx="1033028" cy="286941"/>
          </a:xfrm>
        </p:grpSpPr>
        <p:sp>
          <p:nvSpPr>
            <p:cNvPr name="Freeform 18" id="18"/>
            <p:cNvSpPr/>
            <p:nvPr/>
          </p:nvSpPr>
          <p:spPr>
            <a:xfrm flipH="false" flipV="false" rot="0">
              <a:off x="0" y="0"/>
              <a:ext cx="1033028" cy="286941"/>
            </a:xfrm>
            <a:custGeom>
              <a:avLst/>
              <a:gdLst/>
              <a:ahLst/>
              <a:cxnLst/>
              <a:rect r="r" b="b" t="t" l="l"/>
              <a:pathLst>
                <a:path h="286941" w="1033028">
                  <a:moveTo>
                    <a:pt x="143471" y="0"/>
                  </a:moveTo>
                  <a:lnTo>
                    <a:pt x="889557" y="0"/>
                  </a:lnTo>
                  <a:cubicBezTo>
                    <a:pt x="927608" y="0"/>
                    <a:pt x="964100" y="15116"/>
                    <a:pt x="991006" y="42022"/>
                  </a:cubicBezTo>
                  <a:cubicBezTo>
                    <a:pt x="1017912" y="68928"/>
                    <a:pt x="1033028" y="105420"/>
                    <a:pt x="1033028" y="143471"/>
                  </a:cubicBezTo>
                  <a:lnTo>
                    <a:pt x="1033028" y="143471"/>
                  </a:lnTo>
                  <a:cubicBezTo>
                    <a:pt x="1033028" y="181521"/>
                    <a:pt x="1017912" y="218014"/>
                    <a:pt x="991006" y="244920"/>
                  </a:cubicBezTo>
                  <a:cubicBezTo>
                    <a:pt x="964100" y="271826"/>
                    <a:pt x="927608" y="286941"/>
                    <a:pt x="889557" y="286941"/>
                  </a:cubicBezTo>
                  <a:lnTo>
                    <a:pt x="143471" y="286941"/>
                  </a:lnTo>
                  <a:cubicBezTo>
                    <a:pt x="105420" y="286941"/>
                    <a:pt x="68928" y="271826"/>
                    <a:pt x="42022" y="244920"/>
                  </a:cubicBezTo>
                  <a:cubicBezTo>
                    <a:pt x="15116" y="218014"/>
                    <a:pt x="0" y="181521"/>
                    <a:pt x="0" y="143471"/>
                  </a:cubicBezTo>
                  <a:lnTo>
                    <a:pt x="0" y="143471"/>
                  </a:lnTo>
                  <a:cubicBezTo>
                    <a:pt x="0" y="105420"/>
                    <a:pt x="15116" y="68928"/>
                    <a:pt x="42022" y="42022"/>
                  </a:cubicBezTo>
                  <a:cubicBezTo>
                    <a:pt x="68928" y="15116"/>
                    <a:pt x="105420" y="0"/>
                    <a:pt x="143471" y="0"/>
                  </a:cubicBezTo>
                  <a:close/>
                </a:path>
              </a:pathLst>
            </a:custGeom>
            <a:solidFill>
              <a:srgbClr val="D6B611"/>
            </a:solidFill>
          </p:spPr>
        </p:sp>
        <p:sp>
          <p:nvSpPr>
            <p:cNvPr name="TextBox 19" id="19"/>
            <p:cNvSpPr txBox="true"/>
            <p:nvPr/>
          </p:nvSpPr>
          <p:spPr>
            <a:xfrm>
              <a:off x="0" y="-38100"/>
              <a:ext cx="1033028" cy="325041"/>
            </a:xfrm>
            <a:prstGeom prst="rect">
              <a:avLst/>
            </a:prstGeom>
          </p:spPr>
          <p:txBody>
            <a:bodyPr anchor="ctr" rtlCol="false" tIns="50800" lIns="50800" bIns="50800" rIns="50800"/>
            <a:lstStyle/>
            <a:p>
              <a:pPr algn="ctr">
                <a:lnSpc>
                  <a:spcPts val="2659"/>
                </a:lnSpc>
              </a:pPr>
            </a:p>
          </p:txBody>
        </p:sp>
      </p:grpSp>
      <p:grpSp>
        <p:nvGrpSpPr>
          <p:cNvPr name="Group 20" id="20"/>
          <p:cNvGrpSpPr/>
          <p:nvPr/>
        </p:nvGrpSpPr>
        <p:grpSpPr>
          <a:xfrm rot="0">
            <a:off x="2099301" y="-29701"/>
            <a:ext cx="846001" cy="891686"/>
            <a:chOff x="0" y="0"/>
            <a:chExt cx="229358" cy="241743"/>
          </a:xfrm>
        </p:grpSpPr>
        <p:sp>
          <p:nvSpPr>
            <p:cNvPr name="Freeform 21" id="21"/>
            <p:cNvSpPr/>
            <p:nvPr/>
          </p:nvSpPr>
          <p:spPr>
            <a:xfrm flipH="false" flipV="false" rot="0">
              <a:off x="0" y="0"/>
              <a:ext cx="229358" cy="241743"/>
            </a:xfrm>
            <a:custGeom>
              <a:avLst/>
              <a:gdLst/>
              <a:ahLst/>
              <a:cxnLst/>
              <a:rect r="r" b="b" t="t" l="l"/>
              <a:pathLst>
                <a:path h="241743" w="229358">
                  <a:moveTo>
                    <a:pt x="114679" y="0"/>
                  </a:moveTo>
                  <a:lnTo>
                    <a:pt x="114679" y="0"/>
                  </a:lnTo>
                  <a:cubicBezTo>
                    <a:pt x="178014" y="0"/>
                    <a:pt x="229358" y="51344"/>
                    <a:pt x="229358" y="114679"/>
                  </a:cubicBezTo>
                  <a:lnTo>
                    <a:pt x="229358" y="127064"/>
                  </a:lnTo>
                  <a:cubicBezTo>
                    <a:pt x="229358" y="157479"/>
                    <a:pt x="217276" y="186648"/>
                    <a:pt x="195769" y="208155"/>
                  </a:cubicBezTo>
                  <a:cubicBezTo>
                    <a:pt x="174263" y="229661"/>
                    <a:pt x="145094" y="241743"/>
                    <a:pt x="114679" y="241743"/>
                  </a:cubicBezTo>
                  <a:lnTo>
                    <a:pt x="114679" y="241743"/>
                  </a:lnTo>
                  <a:cubicBezTo>
                    <a:pt x="84264" y="241743"/>
                    <a:pt x="55095" y="229661"/>
                    <a:pt x="33589" y="208155"/>
                  </a:cubicBezTo>
                  <a:cubicBezTo>
                    <a:pt x="12082" y="186648"/>
                    <a:pt x="0" y="157479"/>
                    <a:pt x="0" y="127064"/>
                  </a:cubicBezTo>
                  <a:lnTo>
                    <a:pt x="0" y="114679"/>
                  </a:lnTo>
                  <a:cubicBezTo>
                    <a:pt x="0" y="84264"/>
                    <a:pt x="12082" y="55095"/>
                    <a:pt x="33589" y="33589"/>
                  </a:cubicBezTo>
                  <a:cubicBezTo>
                    <a:pt x="55095" y="12082"/>
                    <a:pt x="84264" y="0"/>
                    <a:pt x="114679" y="0"/>
                  </a:cubicBezTo>
                  <a:close/>
                </a:path>
              </a:pathLst>
            </a:custGeom>
            <a:solidFill>
              <a:srgbClr val="FFFFFF"/>
            </a:solidFill>
          </p:spPr>
        </p:sp>
        <p:sp>
          <p:nvSpPr>
            <p:cNvPr name="TextBox 22" id="22"/>
            <p:cNvSpPr txBox="true"/>
            <p:nvPr/>
          </p:nvSpPr>
          <p:spPr>
            <a:xfrm>
              <a:off x="0" y="-38100"/>
              <a:ext cx="229358" cy="279843"/>
            </a:xfrm>
            <a:prstGeom prst="rect">
              <a:avLst/>
            </a:prstGeom>
          </p:spPr>
          <p:txBody>
            <a:bodyPr anchor="ctr" rtlCol="false" tIns="50800" lIns="50800" bIns="50800" rIns="50800"/>
            <a:lstStyle/>
            <a:p>
              <a:pPr algn="ctr">
                <a:lnSpc>
                  <a:spcPts val="2659"/>
                </a:lnSpc>
              </a:pPr>
            </a:p>
          </p:txBody>
        </p:sp>
      </p:grpSp>
      <p:sp>
        <p:nvSpPr>
          <p:cNvPr name="TextBox 23" id="23"/>
          <p:cNvSpPr txBox="true"/>
          <p:nvPr/>
        </p:nvSpPr>
        <p:spPr>
          <a:xfrm rot="0">
            <a:off x="-256870" y="-15074"/>
            <a:ext cx="2356171" cy="663739"/>
          </a:xfrm>
          <a:prstGeom prst="rect">
            <a:avLst/>
          </a:prstGeom>
        </p:spPr>
        <p:txBody>
          <a:bodyPr anchor="t" rtlCol="false" tIns="0" lIns="0" bIns="0" rIns="0">
            <a:spAutoFit/>
          </a:bodyPr>
          <a:lstStyle/>
          <a:p>
            <a:pPr algn="ctr">
              <a:lnSpc>
                <a:spcPts val="5415"/>
              </a:lnSpc>
            </a:pPr>
            <a:r>
              <a:rPr lang="en-US" sz="3868" b="true">
                <a:solidFill>
                  <a:srgbClr val="083B35"/>
                </a:solidFill>
                <a:latin typeface="TT Interphases Bold"/>
                <a:ea typeface="TT Interphases Bold"/>
                <a:cs typeface="TT Interphases Bold"/>
                <a:sym typeface="TT Interphases Bold"/>
              </a:rPr>
              <a:t>PART </a:t>
            </a:r>
          </a:p>
        </p:txBody>
      </p:sp>
      <p:sp>
        <p:nvSpPr>
          <p:cNvPr name="TextBox 24" id="24"/>
          <p:cNvSpPr txBox="true"/>
          <p:nvPr/>
        </p:nvSpPr>
        <p:spPr>
          <a:xfrm rot="0">
            <a:off x="1344216" y="-34155"/>
            <a:ext cx="2356171" cy="805345"/>
          </a:xfrm>
          <a:prstGeom prst="rect">
            <a:avLst/>
          </a:prstGeom>
        </p:spPr>
        <p:txBody>
          <a:bodyPr anchor="t" rtlCol="false" tIns="0" lIns="0" bIns="0" rIns="0">
            <a:spAutoFit/>
          </a:bodyPr>
          <a:lstStyle/>
          <a:p>
            <a:pPr algn="ctr">
              <a:lnSpc>
                <a:spcPts val="6535"/>
              </a:lnSpc>
            </a:pPr>
            <a:r>
              <a:rPr lang="en-US" sz="4668" b="true">
                <a:solidFill>
                  <a:srgbClr val="083B35"/>
                </a:solidFill>
                <a:latin typeface="TT Interphases Bold"/>
                <a:ea typeface="TT Interphases Bold"/>
                <a:cs typeface="TT Interphases Bold"/>
                <a:sym typeface="TT Interphases Bold"/>
              </a:rPr>
              <a:t>1</a:t>
            </a:r>
          </a:p>
        </p:txBody>
      </p:sp>
      <p:sp>
        <p:nvSpPr>
          <p:cNvPr name="Freeform 25" id="25"/>
          <p:cNvSpPr/>
          <p:nvPr/>
        </p:nvSpPr>
        <p:spPr>
          <a:xfrm flipH="false" flipV="false" rot="0">
            <a:off x="260266" y="5139400"/>
            <a:ext cx="6880242" cy="5003813"/>
          </a:xfrm>
          <a:custGeom>
            <a:avLst/>
            <a:gdLst/>
            <a:ahLst/>
            <a:cxnLst/>
            <a:rect r="r" b="b" t="t" l="l"/>
            <a:pathLst>
              <a:path h="5003813" w="6880242">
                <a:moveTo>
                  <a:pt x="0" y="0"/>
                </a:moveTo>
                <a:lnTo>
                  <a:pt x="6880242" y="0"/>
                </a:lnTo>
                <a:lnTo>
                  <a:pt x="6880242" y="5003813"/>
                </a:lnTo>
                <a:lnTo>
                  <a:pt x="0" y="5003813"/>
                </a:lnTo>
                <a:lnTo>
                  <a:pt x="0" y="0"/>
                </a:lnTo>
                <a:close/>
              </a:path>
            </a:pathLst>
          </a:custGeom>
          <a:blipFill>
            <a:blip r:embed="rId2"/>
            <a:stretch>
              <a:fillRect l="0" t="0" r="0" b="0"/>
            </a:stretch>
          </a:blipFill>
        </p:spPr>
      </p:sp>
      <p:sp>
        <p:nvSpPr>
          <p:cNvPr name="Freeform 26" id="26"/>
          <p:cNvSpPr/>
          <p:nvPr/>
        </p:nvSpPr>
        <p:spPr>
          <a:xfrm flipH="false" flipV="false" rot="0">
            <a:off x="10260468" y="65227"/>
            <a:ext cx="6991868" cy="5078273"/>
          </a:xfrm>
          <a:custGeom>
            <a:avLst/>
            <a:gdLst/>
            <a:ahLst/>
            <a:cxnLst/>
            <a:rect r="r" b="b" t="t" l="l"/>
            <a:pathLst>
              <a:path h="5078273" w="6991868">
                <a:moveTo>
                  <a:pt x="0" y="0"/>
                </a:moveTo>
                <a:lnTo>
                  <a:pt x="6991867" y="0"/>
                </a:lnTo>
                <a:lnTo>
                  <a:pt x="6991867" y="5078273"/>
                </a:lnTo>
                <a:lnTo>
                  <a:pt x="0" y="5078273"/>
                </a:lnTo>
                <a:lnTo>
                  <a:pt x="0" y="0"/>
                </a:lnTo>
                <a:close/>
              </a:path>
            </a:pathLst>
          </a:custGeom>
          <a:blipFill>
            <a:blip r:embed="rId3"/>
            <a:stretch>
              <a:fillRect l="0" t="0" r="0" b="-132"/>
            </a:stretch>
          </a:blipFill>
        </p:spPr>
      </p:sp>
    </p:spTree>
  </p:cSld>
  <p:clrMapOvr>
    <a:masterClrMapping/>
  </p:clrMapOvr>
  <p:transition spd="fast">
    <p:wipe dir="d"/>
  </p:transition>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083B35"/>
        </a:solidFill>
      </p:bgPr>
    </p:bg>
    <p:spTree>
      <p:nvGrpSpPr>
        <p:cNvPr id="1" name=""/>
        <p:cNvGrpSpPr/>
        <p:nvPr/>
      </p:nvGrpSpPr>
      <p:grpSpPr>
        <a:xfrm>
          <a:off x="0" y="0"/>
          <a:ext cx="0" cy="0"/>
          <a:chOff x="0" y="0"/>
          <a:chExt cx="0" cy="0"/>
        </a:xfrm>
      </p:grpSpPr>
      <p:grpSp>
        <p:nvGrpSpPr>
          <p:cNvPr name="Group 2" id="2"/>
          <p:cNvGrpSpPr/>
          <p:nvPr/>
        </p:nvGrpSpPr>
        <p:grpSpPr>
          <a:xfrm rot="0">
            <a:off x="-982942" y="-1678833"/>
            <a:ext cx="10048730" cy="6503907"/>
            <a:chOff x="0" y="0"/>
            <a:chExt cx="2646579" cy="1712963"/>
          </a:xfrm>
        </p:grpSpPr>
        <p:sp>
          <p:nvSpPr>
            <p:cNvPr name="Freeform 3" id="3"/>
            <p:cNvSpPr/>
            <p:nvPr/>
          </p:nvSpPr>
          <p:spPr>
            <a:xfrm flipH="false" flipV="false" rot="0">
              <a:off x="0" y="0"/>
              <a:ext cx="2646579" cy="1712963"/>
            </a:xfrm>
            <a:custGeom>
              <a:avLst/>
              <a:gdLst/>
              <a:ahLst/>
              <a:cxnLst/>
              <a:rect r="r" b="b" t="t" l="l"/>
              <a:pathLst>
                <a:path h="1712963" w="2646579">
                  <a:moveTo>
                    <a:pt x="77044" y="0"/>
                  </a:moveTo>
                  <a:lnTo>
                    <a:pt x="2569535" y="0"/>
                  </a:lnTo>
                  <a:cubicBezTo>
                    <a:pt x="2589968" y="0"/>
                    <a:pt x="2609565" y="8117"/>
                    <a:pt x="2624013" y="22566"/>
                  </a:cubicBezTo>
                  <a:cubicBezTo>
                    <a:pt x="2638462" y="37014"/>
                    <a:pt x="2646579" y="56610"/>
                    <a:pt x="2646579" y="77044"/>
                  </a:cubicBezTo>
                  <a:lnTo>
                    <a:pt x="2646579" y="1635920"/>
                  </a:lnTo>
                  <a:cubicBezTo>
                    <a:pt x="2646579" y="1656353"/>
                    <a:pt x="2638462" y="1675949"/>
                    <a:pt x="2624013" y="1690398"/>
                  </a:cubicBezTo>
                  <a:cubicBezTo>
                    <a:pt x="2609565" y="1704846"/>
                    <a:pt x="2589968" y="1712963"/>
                    <a:pt x="2569535" y="1712963"/>
                  </a:cubicBezTo>
                  <a:lnTo>
                    <a:pt x="77044" y="1712963"/>
                  </a:lnTo>
                  <a:cubicBezTo>
                    <a:pt x="56610" y="1712963"/>
                    <a:pt x="37014" y="1704846"/>
                    <a:pt x="22566" y="1690398"/>
                  </a:cubicBezTo>
                  <a:cubicBezTo>
                    <a:pt x="8117" y="1675949"/>
                    <a:pt x="0" y="1656353"/>
                    <a:pt x="0" y="1635920"/>
                  </a:cubicBezTo>
                  <a:lnTo>
                    <a:pt x="0" y="77044"/>
                  </a:lnTo>
                  <a:cubicBezTo>
                    <a:pt x="0" y="56610"/>
                    <a:pt x="8117" y="37014"/>
                    <a:pt x="22566" y="22566"/>
                  </a:cubicBezTo>
                  <a:cubicBezTo>
                    <a:pt x="37014" y="8117"/>
                    <a:pt x="56610" y="0"/>
                    <a:pt x="77044" y="0"/>
                  </a:cubicBezTo>
                  <a:close/>
                </a:path>
              </a:pathLst>
            </a:custGeom>
            <a:solidFill>
              <a:srgbClr val="124B44"/>
            </a:solidFill>
          </p:spPr>
        </p:sp>
        <p:sp>
          <p:nvSpPr>
            <p:cNvPr name="TextBox 4" id="4"/>
            <p:cNvSpPr txBox="true"/>
            <p:nvPr/>
          </p:nvSpPr>
          <p:spPr>
            <a:xfrm>
              <a:off x="0" y="-38100"/>
              <a:ext cx="2646579" cy="1751063"/>
            </a:xfrm>
            <a:prstGeom prst="rect">
              <a:avLst/>
            </a:prstGeom>
          </p:spPr>
          <p:txBody>
            <a:bodyPr anchor="ctr" rtlCol="false" tIns="50800" lIns="50800" bIns="50800" rIns="50800"/>
            <a:lstStyle/>
            <a:p>
              <a:pPr algn="ctr">
                <a:lnSpc>
                  <a:spcPts val="2659"/>
                </a:lnSpc>
                <a:spcBef>
                  <a:spcPct val="0"/>
                </a:spcBef>
              </a:pPr>
            </a:p>
          </p:txBody>
        </p:sp>
      </p:grpSp>
      <p:sp>
        <p:nvSpPr>
          <p:cNvPr name="TextBox 5" id="5"/>
          <p:cNvSpPr txBox="true"/>
          <p:nvPr/>
        </p:nvSpPr>
        <p:spPr>
          <a:xfrm rot="0">
            <a:off x="1115719" y="1147735"/>
            <a:ext cx="8028281" cy="467633"/>
          </a:xfrm>
          <a:prstGeom prst="rect">
            <a:avLst/>
          </a:prstGeom>
        </p:spPr>
        <p:txBody>
          <a:bodyPr anchor="t" rtlCol="false" tIns="0" lIns="0" bIns="0" rIns="0">
            <a:spAutoFit/>
          </a:bodyPr>
          <a:lstStyle/>
          <a:p>
            <a:pPr algn="l">
              <a:lnSpc>
                <a:spcPts val="3807"/>
              </a:lnSpc>
            </a:pPr>
            <a:r>
              <a:rPr lang="en-US" sz="2928" spc="117">
                <a:solidFill>
                  <a:srgbClr val="D6B611"/>
                </a:solidFill>
                <a:latin typeface="League Spartan"/>
                <a:ea typeface="League Spartan"/>
                <a:cs typeface="League Spartan"/>
                <a:sym typeface="League Spartan"/>
              </a:rPr>
              <a:t>AUTOSUFFISANCE  AGRICOLE</a:t>
            </a:r>
          </a:p>
        </p:txBody>
      </p:sp>
      <p:sp>
        <p:nvSpPr>
          <p:cNvPr name="TextBox 6" id="6"/>
          <p:cNvSpPr txBox="true"/>
          <p:nvPr/>
        </p:nvSpPr>
        <p:spPr>
          <a:xfrm rot="0">
            <a:off x="608864" y="2075648"/>
            <a:ext cx="7634205" cy="2177415"/>
          </a:xfrm>
          <a:prstGeom prst="rect">
            <a:avLst/>
          </a:prstGeom>
        </p:spPr>
        <p:txBody>
          <a:bodyPr anchor="t" rtlCol="false" tIns="0" lIns="0" bIns="0" rIns="0">
            <a:spAutoFit/>
          </a:bodyPr>
          <a:lstStyle/>
          <a:p>
            <a:pPr algn="just">
              <a:lnSpc>
                <a:spcPts val="3524"/>
              </a:lnSpc>
            </a:pPr>
            <a:r>
              <a:rPr lang="en-US" sz="2349">
                <a:solidFill>
                  <a:srgbClr val="FFFFFF"/>
                </a:solidFill>
                <a:latin typeface="TT Interphases"/>
                <a:ea typeface="TT Interphases"/>
                <a:cs typeface="TT Interphases"/>
                <a:sym typeface="TT Interphases"/>
              </a:rPr>
              <a:t>Dans les pays étudiés, la couverture moyenne des produits agricoles en termes d'autosuffisance est de 4 mois. Toutefois, une forte disparité est observée entre le Niger, où l'autosuffisance atteint en moyenne 6 mois, et le Mali, où elle se limite à 3 mois.</a:t>
            </a:r>
          </a:p>
        </p:txBody>
      </p:sp>
      <p:sp>
        <p:nvSpPr>
          <p:cNvPr name="AutoShape 7" id="7"/>
          <p:cNvSpPr/>
          <p:nvPr/>
        </p:nvSpPr>
        <p:spPr>
          <a:xfrm rot="0">
            <a:off x="1028700" y="1787498"/>
            <a:ext cx="6495400" cy="50025"/>
          </a:xfrm>
          <a:prstGeom prst="rect">
            <a:avLst/>
          </a:prstGeom>
          <a:solidFill>
            <a:srgbClr val="FFFFFF"/>
          </a:solidFill>
        </p:spPr>
      </p:sp>
      <p:grpSp>
        <p:nvGrpSpPr>
          <p:cNvPr name="Group 8" id="8"/>
          <p:cNvGrpSpPr/>
          <p:nvPr/>
        </p:nvGrpSpPr>
        <p:grpSpPr>
          <a:xfrm rot="0">
            <a:off x="8243068" y="5143500"/>
            <a:ext cx="11437355" cy="6871097"/>
            <a:chOff x="0" y="0"/>
            <a:chExt cx="3012307" cy="1809672"/>
          </a:xfrm>
        </p:grpSpPr>
        <p:sp>
          <p:nvSpPr>
            <p:cNvPr name="Freeform 9" id="9"/>
            <p:cNvSpPr/>
            <p:nvPr/>
          </p:nvSpPr>
          <p:spPr>
            <a:xfrm flipH="false" flipV="false" rot="0">
              <a:off x="0" y="0"/>
              <a:ext cx="3012307" cy="1809672"/>
            </a:xfrm>
            <a:custGeom>
              <a:avLst/>
              <a:gdLst/>
              <a:ahLst/>
              <a:cxnLst/>
              <a:rect r="r" b="b" t="t" l="l"/>
              <a:pathLst>
                <a:path h="1809672" w="3012307">
                  <a:moveTo>
                    <a:pt x="67690" y="0"/>
                  </a:moveTo>
                  <a:lnTo>
                    <a:pt x="2944618" y="0"/>
                  </a:lnTo>
                  <a:cubicBezTo>
                    <a:pt x="2982002" y="0"/>
                    <a:pt x="3012307" y="30306"/>
                    <a:pt x="3012307" y="67690"/>
                  </a:cubicBezTo>
                  <a:lnTo>
                    <a:pt x="3012307" y="1741982"/>
                  </a:lnTo>
                  <a:cubicBezTo>
                    <a:pt x="3012307" y="1779366"/>
                    <a:pt x="2982002" y="1809672"/>
                    <a:pt x="2944618" y="1809672"/>
                  </a:cubicBezTo>
                  <a:lnTo>
                    <a:pt x="67690" y="1809672"/>
                  </a:lnTo>
                  <a:cubicBezTo>
                    <a:pt x="30306" y="1809672"/>
                    <a:pt x="0" y="1779366"/>
                    <a:pt x="0" y="1741982"/>
                  </a:cubicBezTo>
                  <a:lnTo>
                    <a:pt x="0" y="67690"/>
                  </a:lnTo>
                  <a:cubicBezTo>
                    <a:pt x="0" y="30306"/>
                    <a:pt x="30306" y="0"/>
                    <a:pt x="67690" y="0"/>
                  </a:cubicBezTo>
                  <a:close/>
                </a:path>
              </a:pathLst>
            </a:custGeom>
            <a:solidFill>
              <a:srgbClr val="124B44"/>
            </a:solidFill>
          </p:spPr>
        </p:sp>
        <p:sp>
          <p:nvSpPr>
            <p:cNvPr name="TextBox 10" id="10"/>
            <p:cNvSpPr txBox="true"/>
            <p:nvPr/>
          </p:nvSpPr>
          <p:spPr>
            <a:xfrm>
              <a:off x="0" y="-38100"/>
              <a:ext cx="3012307" cy="1847772"/>
            </a:xfrm>
            <a:prstGeom prst="rect">
              <a:avLst/>
            </a:prstGeom>
          </p:spPr>
          <p:txBody>
            <a:bodyPr anchor="ctr" rtlCol="false" tIns="50800" lIns="50800" bIns="50800" rIns="50800"/>
            <a:lstStyle/>
            <a:p>
              <a:pPr algn="ctr">
                <a:lnSpc>
                  <a:spcPts val="2659"/>
                </a:lnSpc>
                <a:spcBef>
                  <a:spcPct val="0"/>
                </a:spcBef>
              </a:pPr>
            </a:p>
          </p:txBody>
        </p:sp>
      </p:grpSp>
      <p:sp>
        <p:nvSpPr>
          <p:cNvPr name="TextBox 11" id="11"/>
          <p:cNvSpPr txBox="true"/>
          <p:nvPr/>
        </p:nvSpPr>
        <p:spPr>
          <a:xfrm rot="0">
            <a:off x="9199798" y="5885066"/>
            <a:ext cx="6502365" cy="495300"/>
          </a:xfrm>
          <a:prstGeom prst="rect">
            <a:avLst/>
          </a:prstGeom>
        </p:spPr>
        <p:txBody>
          <a:bodyPr anchor="t" rtlCol="false" tIns="0" lIns="0" bIns="0" rIns="0">
            <a:spAutoFit/>
          </a:bodyPr>
          <a:lstStyle/>
          <a:p>
            <a:pPr algn="l">
              <a:lnSpc>
                <a:spcPts val="3900"/>
              </a:lnSpc>
            </a:pPr>
            <a:r>
              <a:rPr lang="en-US" sz="3000" spc="120">
                <a:solidFill>
                  <a:srgbClr val="D6B611"/>
                </a:solidFill>
                <a:latin typeface="League Spartan"/>
                <a:ea typeface="League Spartan"/>
                <a:cs typeface="League Spartan"/>
                <a:sym typeface="League Spartan"/>
              </a:rPr>
              <a:t>TAILLE DU CHEPTEL EN UBT</a:t>
            </a:r>
          </a:p>
        </p:txBody>
      </p:sp>
      <p:sp>
        <p:nvSpPr>
          <p:cNvPr name="TextBox 12" id="12"/>
          <p:cNvSpPr txBox="true"/>
          <p:nvPr/>
        </p:nvSpPr>
        <p:spPr>
          <a:xfrm rot="0">
            <a:off x="9065788" y="6991321"/>
            <a:ext cx="8193512" cy="2851785"/>
          </a:xfrm>
          <a:prstGeom prst="rect">
            <a:avLst/>
          </a:prstGeom>
        </p:spPr>
        <p:txBody>
          <a:bodyPr anchor="t" rtlCol="false" tIns="0" lIns="0" bIns="0" rIns="0">
            <a:spAutoFit/>
          </a:bodyPr>
          <a:lstStyle/>
          <a:p>
            <a:pPr algn="just">
              <a:lnSpc>
                <a:spcPts val="3225"/>
              </a:lnSpc>
            </a:pPr>
            <a:r>
              <a:rPr lang="en-US" sz="2150">
                <a:solidFill>
                  <a:srgbClr val="FFFFFF"/>
                </a:solidFill>
                <a:latin typeface="TT Interphases"/>
                <a:ea typeface="TT Interphases"/>
                <a:cs typeface="TT Interphases"/>
                <a:sym typeface="TT Interphases"/>
              </a:rPr>
              <a:t>La taille moyenne du cheptel en UBT varie entre les pays. La Mauritanie affiche quant à elle, la valeur la plus élevée (88,01 UBT), suivie du Mali (76,47 UBT) et du Sénégal (71,89 UBT). À l’inverse, le Burkina Faso (49,92 UBT) et surtout le Niger (36,73 UBT) enregistrent les tailles moyennes les plus faibles. La moyenne globale sur l’ensemble des pays est de 65,61 UBT, indiquant une disparité notable entre les pays en matière de cheptel.</a:t>
            </a:r>
          </a:p>
        </p:txBody>
      </p:sp>
      <p:sp>
        <p:nvSpPr>
          <p:cNvPr name="AutoShape 13" id="13"/>
          <p:cNvSpPr/>
          <p:nvPr/>
        </p:nvSpPr>
        <p:spPr>
          <a:xfrm rot="0">
            <a:off x="9199798" y="6694691"/>
            <a:ext cx="6495400" cy="50025"/>
          </a:xfrm>
          <a:prstGeom prst="rect">
            <a:avLst/>
          </a:prstGeom>
          <a:solidFill>
            <a:srgbClr val="FFFFFF"/>
          </a:solidFill>
        </p:spPr>
      </p:sp>
      <p:grpSp>
        <p:nvGrpSpPr>
          <p:cNvPr name="Group 14" id="14"/>
          <p:cNvGrpSpPr/>
          <p:nvPr/>
        </p:nvGrpSpPr>
        <p:grpSpPr>
          <a:xfrm rot="0">
            <a:off x="17252335" y="9228599"/>
            <a:ext cx="1000215" cy="1058401"/>
            <a:chOff x="0" y="0"/>
            <a:chExt cx="271167" cy="286941"/>
          </a:xfrm>
        </p:grpSpPr>
        <p:sp>
          <p:nvSpPr>
            <p:cNvPr name="Freeform 15" id="15"/>
            <p:cNvSpPr/>
            <p:nvPr/>
          </p:nvSpPr>
          <p:spPr>
            <a:xfrm flipH="false" flipV="false" rot="0">
              <a:off x="0" y="0"/>
              <a:ext cx="271167" cy="286941"/>
            </a:xfrm>
            <a:custGeom>
              <a:avLst/>
              <a:gdLst/>
              <a:ahLst/>
              <a:cxnLst/>
              <a:rect r="r" b="b" t="t" l="l"/>
              <a:pathLst>
                <a:path h="286941" w="271167">
                  <a:moveTo>
                    <a:pt x="135583" y="0"/>
                  </a:moveTo>
                  <a:lnTo>
                    <a:pt x="135583" y="0"/>
                  </a:lnTo>
                  <a:cubicBezTo>
                    <a:pt x="210464" y="0"/>
                    <a:pt x="271167" y="60703"/>
                    <a:pt x="271167" y="135583"/>
                  </a:cubicBezTo>
                  <a:lnTo>
                    <a:pt x="271167" y="151358"/>
                  </a:lnTo>
                  <a:cubicBezTo>
                    <a:pt x="271167" y="187317"/>
                    <a:pt x="256882" y="221803"/>
                    <a:pt x="231455" y="247230"/>
                  </a:cubicBezTo>
                  <a:cubicBezTo>
                    <a:pt x="206028" y="272656"/>
                    <a:pt x="171542" y="286941"/>
                    <a:pt x="135583" y="286941"/>
                  </a:cubicBezTo>
                  <a:lnTo>
                    <a:pt x="135583" y="286941"/>
                  </a:lnTo>
                  <a:cubicBezTo>
                    <a:pt x="60703" y="286941"/>
                    <a:pt x="0" y="226238"/>
                    <a:pt x="0" y="151358"/>
                  </a:cubicBezTo>
                  <a:lnTo>
                    <a:pt x="0" y="135583"/>
                  </a:lnTo>
                  <a:cubicBezTo>
                    <a:pt x="0" y="99624"/>
                    <a:pt x="14285" y="65138"/>
                    <a:pt x="39711" y="39711"/>
                  </a:cubicBezTo>
                  <a:cubicBezTo>
                    <a:pt x="65138" y="14285"/>
                    <a:pt x="99624" y="0"/>
                    <a:pt x="135583" y="0"/>
                  </a:cubicBezTo>
                  <a:close/>
                </a:path>
              </a:pathLst>
            </a:custGeom>
            <a:solidFill>
              <a:srgbClr val="FFFFFF"/>
            </a:solidFill>
          </p:spPr>
        </p:sp>
        <p:sp>
          <p:nvSpPr>
            <p:cNvPr name="TextBox 16" id="16"/>
            <p:cNvSpPr txBox="true"/>
            <p:nvPr/>
          </p:nvSpPr>
          <p:spPr>
            <a:xfrm>
              <a:off x="0" y="-38100"/>
              <a:ext cx="271167" cy="325041"/>
            </a:xfrm>
            <a:prstGeom prst="rect">
              <a:avLst/>
            </a:prstGeom>
          </p:spPr>
          <p:txBody>
            <a:bodyPr anchor="ctr" rtlCol="false" tIns="50800" lIns="50800" bIns="50800" rIns="50800"/>
            <a:lstStyle/>
            <a:p>
              <a:pPr algn="ctr">
                <a:lnSpc>
                  <a:spcPts val="2659"/>
                </a:lnSpc>
              </a:pPr>
            </a:p>
          </p:txBody>
        </p:sp>
      </p:grpSp>
      <p:sp>
        <p:nvSpPr>
          <p:cNvPr name="Freeform 17" id="17"/>
          <p:cNvSpPr/>
          <p:nvPr/>
        </p:nvSpPr>
        <p:spPr>
          <a:xfrm flipH="false" flipV="false" rot="0">
            <a:off x="9761406" y="61126"/>
            <a:ext cx="6802275" cy="4784504"/>
          </a:xfrm>
          <a:custGeom>
            <a:avLst/>
            <a:gdLst/>
            <a:ahLst/>
            <a:cxnLst/>
            <a:rect r="r" b="b" t="t" l="l"/>
            <a:pathLst>
              <a:path h="4784504" w="6802275">
                <a:moveTo>
                  <a:pt x="0" y="0"/>
                </a:moveTo>
                <a:lnTo>
                  <a:pt x="6802275" y="0"/>
                </a:lnTo>
                <a:lnTo>
                  <a:pt x="6802275" y="4784504"/>
                </a:lnTo>
                <a:lnTo>
                  <a:pt x="0" y="4784504"/>
                </a:lnTo>
                <a:lnTo>
                  <a:pt x="0" y="0"/>
                </a:lnTo>
                <a:close/>
              </a:path>
            </a:pathLst>
          </a:custGeom>
          <a:blipFill>
            <a:blip r:embed="rId2"/>
            <a:stretch>
              <a:fillRect l="0" t="-2876" r="0" b="-522"/>
            </a:stretch>
          </a:blipFill>
        </p:spPr>
      </p:sp>
      <p:sp>
        <p:nvSpPr>
          <p:cNvPr name="Freeform 18" id="18"/>
          <p:cNvSpPr/>
          <p:nvPr/>
        </p:nvSpPr>
        <p:spPr>
          <a:xfrm flipH="false" flipV="false" rot="0">
            <a:off x="340842" y="5139400"/>
            <a:ext cx="7183258" cy="5098542"/>
          </a:xfrm>
          <a:custGeom>
            <a:avLst/>
            <a:gdLst/>
            <a:ahLst/>
            <a:cxnLst/>
            <a:rect r="r" b="b" t="t" l="l"/>
            <a:pathLst>
              <a:path h="5098542" w="7183258">
                <a:moveTo>
                  <a:pt x="0" y="0"/>
                </a:moveTo>
                <a:lnTo>
                  <a:pt x="7183258" y="0"/>
                </a:lnTo>
                <a:lnTo>
                  <a:pt x="7183258" y="5098542"/>
                </a:lnTo>
                <a:lnTo>
                  <a:pt x="0" y="5098542"/>
                </a:lnTo>
                <a:lnTo>
                  <a:pt x="0" y="0"/>
                </a:lnTo>
                <a:close/>
              </a:path>
            </a:pathLst>
          </a:custGeom>
          <a:blipFill>
            <a:blip r:embed="rId3"/>
            <a:stretch>
              <a:fillRect l="0" t="-1232" r="0" b="-1232"/>
            </a:stretch>
          </a:blipFill>
        </p:spPr>
      </p:sp>
      <p:grpSp>
        <p:nvGrpSpPr>
          <p:cNvPr name="Group 19" id="19"/>
          <p:cNvGrpSpPr/>
          <p:nvPr/>
        </p:nvGrpSpPr>
        <p:grpSpPr>
          <a:xfrm rot="0">
            <a:off x="-399741" y="-196416"/>
            <a:ext cx="3810389" cy="1058401"/>
            <a:chOff x="0" y="0"/>
            <a:chExt cx="1033028" cy="286941"/>
          </a:xfrm>
        </p:grpSpPr>
        <p:sp>
          <p:nvSpPr>
            <p:cNvPr name="Freeform 20" id="20"/>
            <p:cNvSpPr/>
            <p:nvPr/>
          </p:nvSpPr>
          <p:spPr>
            <a:xfrm flipH="false" flipV="false" rot="0">
              <a:off x="0" y="0"/>
              <a:ext cx="1033028" cy="286941"/>
            </a:xfrm>
            <a:custGeom>
              <a:avLst/>
              <a:gdLst/>
              <a:ahLst/>
              <a:cxnLst/>
              <a:rect r="r" b="b" t="t" l="l"/>
              <a:pathLst>
                <a:path h="286941" w="1033028">
                  <a:moveTo>
                    <a:pt x="143471" y="0"/>
                  </a:moveTo>
                  <a:lnTo>
                    <a:pt x="889557" y="0"/>
                  </a:lnTo>
                  <a:cubicBezTo>
                    <a:pt x="927608" y="0"/>
                    <a:pt x="964100" y="15116"/>
                    <a:pt x="991006" y="42022"/>
                  </a:cubicBezTo>
                  <a:cubicBezTo>
                    <a:pt x="1017912" y="68928"/>
                    <a:pt x="1033028" y="105420"/>
                    <a:pt x="1033028" y="143471"/>
                  </a:cubicBezTo>
                  <a:lnTo>
                    <a:pt x="1033028" y="143471"/>
                  </a:lnTo>
                  <a:cubicBezTo>
                    <a:pt x="1033028" y="181521"/>
                    <a:pt x="1017912" y="218014"/>
                    <a:pt x="991006" y="244920"/>
                  </a:cubicBezTo>
                  <a:cubicBezTo>
                    <a:pt x="964100" y="271826"/>
                    <a:pt x="927608" y="286941"/>
                    <a:pt x="889557" y="286941"/>
                  </a:cubicBezTo>
                  <a:lnTo>
                    <a:pt x="143471" y="286941"/>
                  </a:lnTo>
                  <a:cubicBezTo>
                    <a:pt x="105420" y="286941"/>
                    <a:pt x="68928" y="271826"/>
                    <a:pt x="42022" y="244920"/>
                  </a:cubicBezTo>
                  <a:cubicBezTo>
                    <a:pt x="15116" y="218014"/>
                    <a:pt x="0" y="181521"/>
                    <a:pt x="0" y="143471"/>
                  </a:cubicBezTo>
                  <a:lnTo>
                    <a:pt x="0" y="143471"/>
                  </a:lnTo>
                  <a:cubicBezTo>
                    <a:pt x="0" y="105420"/>
                    <a:pt x="15116" y="68928"/>
                    <a:pt x="42022" y="42022"/>
                  </a:cubicBezTo>
                  <a:cubicBezTo>
                    <a:pt x="68928" y="15116"/>
                    <a:pt x="105420" y="0"/>
                    <a:pt x="143471" y="0"/>
                  </a:cubicBezTo>
                  <a:close/>
                </a:path>
              </a:pathLst>
            </a:custGeom>
            <a:solidFill>
              <a:srgbClr val="D6B611"/>
            </a:solidFill>
          </p:spPr>
        </p:sp>
        <p:sp>
          <p:nvSpPr>
            <p:cNvPr name="TextBox 21" id="21"/>
            <p:cNvSpPr txBox="true"/>
            <p:nvPr/>
          </p:nvSpPr>
          <p:spPr>
            <a:xfrm>
              <a:off x="0" y="-38100"/>
              <a:ext cx="1033028" cy="325041"/>
            </a:xfrm>
            <a:prstGeom prst="rect">
              <a:avLst/>
            </a:prstGeom>
          </p:spPr>
          <p:txBody>
            <a:bodyPr anchor="ctr" rtlCol="false" tIns="50800" lIns="50800" bIns="50800" rIns="50800"/>
            <a:lstStyle/>
            <a:p>
              <a:pPr algn="ctr">
                <a:lnSpc>
                  <a:spcPts val="2659"/>
                </a:lnSpc>
              </a:pPr>
            </a:p>
          </p:txBody>
        </p:sp>
      </p:grpSp>
      <p:grpSp>
        <p:nvGrpSpPr>
          <p:cNvPr name="Group 22" id="22"/>
          <p:cNvGrpSpPr/>
          <p:nvPr/>
        </p:nvGrpSpPr>
        <p:grpSpPr>
          <a:xfrm rot="0">
            <a:off x="2099301" y="-29701"/>
            <a:ext cx="846001" cy="891686"/>
            <a:chOff x="0" y="0"/>
            <a:chExt cx="229358" cy="241743"/>
          </a:xfrm>
        </p:grpSpPr>
        <p:sp>
          <p:nvSpPr>
            <p:cNvPr name="Freeform 23" id="23"/>
            <p:cNvSpPr/>
            <p:nvPr/>
          </p:nvSpPr>
          <p:spPr>
            <a:xfrm flipH="false" flipV="false" rot="0">
              <a:off x="0" y="0"/>
              <a:ext cx="229358" cy="241743"/>
            </a:xfrm>
            <a:custGeom>
              <a:avLst/>
              <a:gdLst/>
              <a:ahLst/>
              <a:cxnLst/>
              <a:rect r="r" b="b" t="t" l="l"/>
              <a:pathLst>
                <a:path h="241743" w="229358">
                  <a:moveTo>
                    <a:pt x="114679" y="0"/>
                  </a:moveTo>
                  <a:lnTo>
                    <a:pt x="114679" y="0"/>
                  </a:lnTo>
                  <a:cubicBezTo>
                    <a:pt x="178014" y="0"/>
                    <a:pt x="229358" y="51344"/>
                    <a:pt x="229358" y="114679"/>
                  </a:cubicBezTo>
                  <a:lnTo>
                    <a:pt x="229358" y="127064"/>
                  </a:lnTo>
                  <a:cubicBezTo>
                    <a:pt x="229358" y="157479"/>
                    <a:pt x="217276" y="186648"/>
                    <a:pt x="195769" y="208155"/>
                  </a:cubicBezTo>
                  <a:cubicBezTo>
                    <a:pt x="174263" y="229661"/>
                    <a:pt x="145094" y="241743"/>
                    <a:pt x="114679" y="241743"/>
                  </a:cubicBezTo>
                  <a:lnTo>
                    <a:pt x="114679" y="241743"/>
                  </a:lnTo>
                  <a:cubicBezTo>
                    <a:pt x="84264" y="241743"/>
                    <a:pt x="55095" y="229661"/>
                    <a:pt x="33589" y="208155"/>
                  </a:cubicBezTo>
                  <a:cubicBezTo>
                    <a:pt x="12082" y="186648"/>
                    <a:pt x="0" y="157479"/>
                    <a:pt x="0" y="127064"/>
                  </a:cubicBezTo>
                  <a:lnTo>
                    <a:pt x="0" y="114679"/>
                  </a:lnTo>
                  <a:cubicBezTo>
                    <a:pt x="0" y="84264"/>
                    <a:pt x="12082" y="55095"/>
                    <a:pt x="33589" y="33589"/>
                  </a:cubicBezTo>
                  <a:cubicBezTo>
                    <a:pt x="55095" y="12082"/>
                    <a:pt x="84264" y="0"/>
                    <a:pt x="114679" y="0"/>
                  </a:cubicBezTo>
                  <a:close/>
                </a:path>
              </a:pathLst>
            </a:custGeom>
            <a:solidFill>
              <a:srgbClr val="FFFFFF"/>
            </a:solidFill>
          </p:spPr>
        </p:sp>
        <p:sp>
          <p:nvSpPr>
            <p:cNvPr name="TextBox 24" id="24"/>
            <p:cNvSpPr txBox="true"/>
            <p:nvPr/>
          </p:nvSpPr>
          <p:spPr>
            <a:xfrm>
              <a:off x="0" y="-38100"/>
              <a:ext cx="229358" cy="279843"/>
            </a:xfrm>
            <a:prstGeom prst="rect">
              <a:avLst/>
            </a:prstGeom>
          </p:spPr>
          <p:txBody>
            <a:bodyPr anchor="ctr" rtlCol="false" tIns="50800" lIns="50800" bIns="50800" rIns="50800"/>
            <a:lstStyle/>
            <a:p>
              <a:pPr algn="ctr">
                <a:lnSpc>
                  <a:spcPts val="2659"/>
                </a:lnSpc>
              </a:pPr>
            </a:p>
          </p:txBody>
        </p:sp>
      </p:grpSp>
      <p:sp>
        <p:nvSpPr>
          <p:cNvPr name="TextBox 25" id="25"/>
          <p:cNvSpPr txBox="true"/>
          <p:nvPr/>
        </p:nvSpPr>
        <p:spPr>
          <a:xfrm rot="0">
            <a:off x="-256870" y="-15074"/>
            <a:ext cx="2356171" cy="663739"/>
          </a:xfrm>
          <a:prstGeom prst="rect">
            <a:avLst/>
          </a:prstGeom>
        </p:spPr>
        <p:txBody>
          <a:bodyPr anchor="t" rtlCol="false" tIns="0" lIns="0" bIns="0" rIns="0">
            <a:spAutoFit/>
          </a:bodyPr>
          <a:lstStyle/>
          <a:p>
            <a:pPr algn="ctr">
              <a:lnSpc>
                <a:spcPts val="5415"/>
              </a:lnSpc>
            </a:pPr>
            <a:r>
              <a:rPr lang="en-US" sz="3868" b="true">
                <a:solidFill>
                  <a:srgbClr val="083B35"/>
                </a:solidFill>
                <a:latin typeface="TT Interphases Bold"/>
                <a:ea typeface="TT Interphases Bold"/>
                <a:cs typeface="TT Interphases Bold"/>
                <a:sym typeface="TT Interphases Bold"/>
              </a:rPr>
              <a:t>PART </a:t>
            </a:r>
          </a:p>
        </p:txBody>
      </p:sp>
      <p:sp>
        <p:nvSpPr>
          <p:cNvPr name="TextBox 26" id="26"/>
          <p:cNvSpPr txBox="true"/>
          <p:nvPr/>
        </p:nvSpPr>
        <p:spPr>
          <a:xfrm rot="0">
            <a:off x="1344216" y="-34155"/>
            <a:ext cx="2356171" cy="805345"/>
          </a:xfrm>
          <a:prstGeom prst="rect">
            <a:avLst/>
          </a:prstGeom>
        </p:spPr>
        <p:txBody>
          <a:bodyPr anchor="t" rtlCol="false" tIns="0" lIns="0" bIns="0" rIns="0">
            <a:spAutoFit/>
          </a:bodyPr>
          <a:lstStyle/>
          <a:p>
            <a:pPr algn="ctr">
              <a:lnSpc>
                <a:spcPts val="6535"/>
              </a:lnSpc>
            </a:pPr>
            <a:r>
              <a:rPr lang="en-US" sz="4668" b="true">
                <a:solidFill>
                  <a:srgbClr val="083B35"/>
                </a:solidFill>
                <a:latin typeface="TT Interphases Bold"/>
                <a:ea typeface="TT Interphases Bold"/>
                <a:cs typeface="TT Interphases Bold"/>
                <a:sym typeface="TT Interphases Bold"/>
              </a:rPr>
              <a:t>1</a:t>
            </a:r>
          </a:p>
        </p:txBody>
      </p:sp>
    </p:spTree>
  </p:cSld>
  <p:clrMapOvr>
    <a:masterClrMapping/>
  </p:clrMapOvr>
  <p:transition spd="fast">
    <p:circle/>
  </p:transition>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083B35"/>
        </a:solidFill>
      </p:bgPr>
    </p:bg>
    <p:spTree>
      <p:nvGrpSpPr>
        <p:cNvPr id="1" name=""/>
        <p:cNvGrpSpPr/>
        <p:nvPr/>
      </p:nvGrpSpPr>
      <p:grpSpPr>
        <a:xfrm>
          <a:off x="0" y="0"/>
          <a:ext cx="0" cy="0"/>
          <a:chOff x="0" y="0"/>
          <a:chExt cx="0" cy="0"/>
        </a:xfrm>
      </p:grpSpPr>
      <p:grpSp>
        <p:nvGrpSpPr>
          <p:cNvPr name="Group 2" id="2"/>
          <p:cNvGrpSpPr/>
          <p:nvPr/>
        </p:nvGrpSpPr>
        <p:grpSpPr>
          <a:xfrm rot="0">
            <a:off x="-8659387" y="2454706"/>
            <a:ext cx="18288000" cy="8816710"/>
            <a:chOff x="0" y="0"/>
            <a:chExt cx="4816593" cy="2322096"/>
          </a:xfrm>
        </p:grpSpPr>
        <p:sp>
          <p:nvSpPr>
            <p:cNvPr name="Freeform 3" id="3"/>
            <p:cNvSpPr/>
            <p:nvPr/>
          </p:nvSpPr>
          <p:spPr>
            <a:xfrm flipH="false" flipV="false" rot="0">
              <a:off x="0" y="0"/>
              <a:ext cx="4816592" cy="2322096"/>
            </a:xfrm>
            <a:custGeom>
              <a:avLst/>
              <a:gdLst/>
              <a:ahLst/>
              <a:cxnLst/>
              <a:rect r="r" b="b" t="t" l="l"/>
              <a:pathLst>
                <a:path h="2322096" w="4816592">
                  <a:moveTo>
                    <a:pt x="42333" y="0"/>
                  </a:moveTo>
                  <a:lnTo>
                    <a:pt x="4774259" y="0"/>
                  </a:lnTo>
                  <a:cubicBezTo>
                    <a:pt x="4785487" y="0"/>
                    <a:pt x="4796254" y="4460"/>
                    <a:pt x="4804193" y="12399"/>
                  </a:cubicBezTo>
                  <a:cubicBezTo>
                    <a:pt x="4812132" y="20338"/>
                    <a:pt x="4816592" y="31106"/>
                    <a:pt x="4816592" y="42333"/>
                  </a:cubicBezTo>
                  <a:lnTo>
                    <a:pt x="4816592" y="2279763"/>
                  </a:lnTo>
                  <a:cubicBezTo>
                    <a:pt x="4816592" y="2290991"/>
                    <a:pt x="4812132" y="2301758"/>
                    <a:pt x="4804193" y="2309697"/>
                  </a:cubicBezTo>
                  <a:cubicBezTo>
                    <a:pt x="4796254" y="2317636"/>
                    <a:pt x="4785487" y="2322096"/>
                    <a:pt x="4774259" y="2322096"/>
                  </a:cubicBezTo>
                  <a:lnTo>
                    <a:pt x="42333" y="2322096"/>
                  </a:lnTo>
                  <a:cubicBezTo>
                    <a:pt x="31106" y="2322096"/>
                    <a:pt x="20338" y="2317636"/>
                    <a:pt x="12399" y="2309697"/>
                  </a:cubicBezTo>
                  <a:cubicBezTo>
                    <a:pt x="4460" y="2301758"/>
                    <a:pt x="0" y="2290991"/>
                    <a:pt x="0" y="2279763"/>
                  </a:cubicBezTo>
                  <a:lnTo>
                    <a:pt x="0" y="42333"/>
                  </a:lnTo>
                  <a:cubicBezTo>
                    <a:pt x="0" y="31106"/>
                    <a:pt x="4460" y="20338"/>
                    <a:pt x="12399" y="12399"/>
                  </a:cubicBezTo>
                  <a:cubicBezTo>
                    <a:pt x="20338" y="4460"/>
                    <a:pt x="31106" y="0"/>
                    <a:pt x="42333" y="0"/>
                  </a:cubicBezTo>
                  <a:close/>
                </a:path>
              </a:pathLst>
            </a:custGeom>
            <a:solidFill>
              <a:srgbClr val="124B44"/>
            </a:solidFill>
          </p:spPr>
        </p:sp>
        <p:sp>
          <p:nvSpPr>
            <p:cNvPr name="TextBox 4" id="4"/>
            <p:cNvSpPr txBox="true"/>
            <p:nvPr/>
          </p:nvSpPr>
          <p:spPr>
            <a:xfrm>
              <a:off x="0" y="-38100"/>
              <a:ext cx="4816593" cy="2360196"/>
            </a:xfrm>
            <a:prstGeom prst="rect">
              <a:avLst/>
            </a:prstGeom>
          </p:spPr>
          <p:txBody>
            <a:bodyPr anchor="ctr" rtlCol="false" tIns="50800" lIns="50800" bIns="50800" rIns="50800"/>
            <a:lstStyle/>
            <a:p>
              <a:pPr algn="ctr">
                <a:lnSpc>
                  <a:spcPts val="2659"/>
                </a:lnSpc>
                <a:spcBef>
                  <a:spcPct val="0"/>
                </a:spcBef>
              </a:pPr>
            </a:p>
          </p:txBody>
        </p:sp>
      </p:grpSp>
      <p:sp>
        <p:nvSpPr>
          <p:cNvPr name="TextBox 5" id="5"/>
          <p:cNvSpPr txBox="true"/>
          <p:nvPr/>
        </p:nvSpPr>
        <p:spPr>
          <a:xfrm rot="0">
            <a:off x="10123479" y="1456385"/>
            <a:ext cx="7780440" cy="8401051"/>
          </a:xfrm>
          <a:prstGeom prst="rect">
            <a:avLst/>
          </a:prstGeom>
        </p:spPr>
        <p:txBody>
          <a:bodyPr anchor="t" rtlCol="false" tIns="0" lIns="0" bIns="0" rIns="0">
            <a:spAutoFit/>
          </a:bodyPr>
          <a:lstStyle/>
          <a:p>
            <a:pPr algn="just">
              <a:lnSpc>
                <a:spcPts val="4499"/>
              </a:lnSpc>
            </a:pPr>
            <a:r>
              <a:rPr lang="en-US" sz="2999">
                <a:solidFill>
                  <a:srgbClr val="FFFFFF"/>
                </a:solidFill>
                <a:latin typeface="TT Interphases"/>
                <a:ea typeface="TT Interphases"/>
                <a:cs typeface="TT Interphases"/>
                <a:sym typeface="TT Interphases"/>
              </a:rPr>
              <a:t>L'indicateur de viabilité de l'élevage, ou le rapport UBT/EA, reflète la capacité qu'à un ménage de subvenir à ses besoins grâce à son cheptel. Il mesure en outre, la dépendance des ménages à l'élevage pour leur subsistance. Ainsi, l'analyse de notre base montre que la valeur moyenne de ce ratio est de 4,42 UBT/EA avec des disparités suivant les pays. La Mauritanie affiche un ratio élevé de 9,02 UBT/EA, indiquant une forte dépendance à l'élevage, tandis que le Burkina Faso a le plus faible ratio à 2,42 UBT/EA, suggérant une moindre viabilité pastorale. Le Mali et le Sénégal se situent autour de la moyenne avec respectivement 4,07 et 3,45.</a:t>
            </a:r>
          </a:p>
        </p:txBody>
      </p:sp>
      <p:sp>
        <p:nvSpPr>
          <p:cNvPr name="Freeform 6" id="6"/>
          <p:cNvSpPr/>
          <p:nvPr/>
        </p:nvSpPr>
        <p:spPr>
          <a:xfrm flipH="false" flipV="false" rot="0">
            <a:off x="0" y="2854808"/>
            <a:ext cx="9628613" cy="7002627"/>
          </a:xfrm>
          <a:custGeom>
            <a:avLst/>
            <a:gdLst/>
            <a:ahLst/>
            <a:cxnLst/>
            <a:rect r="r" b="b" t="t" l="l"/>
            <a:pathLst>
              <a:path h="7002627" w="9628613">
                <a:moveTo>
                  <a:pt x="0" y="0"/>
                </a:moveTo>
                <a:lnTo>
                  <a:pt x="9628613" y="0"/>
                </a:lnTo>
                <a:lnTo>
                  <a:pt x="9628613" y="7002628"/>
                </a:lnTo>
                <a:lnTo>
                  <a:pt x="0" y="7002628"/>
                </a:lnTo>
                <a:lnTo>
                  <a:pt x="0" y="0"/>
                </a:lnTo>
                <a:close/>
              </a:path>
            </a:pathLst>
          </a:custGeom>
          <a:blipFill>
            <a:blip r:embed="rId2"/>
            <a:stretch>
              <a:fillRect l="0" t="0" r="0" b="0"/>
            </a:stretch>
          </a:blipFill>
        </p:spPr>
      </p:sp>
      <p:sp>
        <p:nvSpPr>
          <p:cNvPr name="TextBox 7" id="7"/>
          <p:cNvSpPr txBox="true"/>
          <p:nvPr/>
        </p:nvSpPr>
        <p:spPr>
          <a:xfrm rot="0">
            <a:off x="1025218" y="1087346"/>
            <a:ext cx="6502365" cy="573405"/>
          </a:xfrm>
          <a:prstGeom prst="rect">
            <a:avLst/>
          </a:prstGeom>
        </p:spPr>
        <p:txBody>
          <a:bodyPr anchor="t" rtlCol="false" tIns="0" lIns="0" bIns="0" rIns="0">
            <a:spAutoFit/>
          </a:bodyPr>
          <a:lstStyle/>
          <a:p>
            <a:pPr algn="l">
              <a:lnSpc>
                <a:spcPts val="4679"/>
              </a:lnSpc>
            </a:pPr>
            <a:r>
              <a:rPr lang="en-US" sz="3599" spc="143">
                <a:solidFill>
                  <a:srgbClr val="D6B611"/>
                </a:solidFill>
                <a:latin typeface="League Spartan"/>
                <a:ea typeface="League Spartan"/>
                <a:cs typeface="League Spartan"/>
                <a:sym typeface="League Spartan"/>
              </a:rPr>
              <a:t>INDICATEUR DE VIABILITE</a:t>
            </a:r>
          </a:p>
        </p:txBody>
      </p:sp>
    </p:spTree>
  </p:cSld>
  <p:clrMapOvr>
    <a:masterClrMapping/>
  </p:clrMapOvr>
  <p:transition spd="slow">
    <p:push dir="l"/>
  </p:transition>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083B35"/>
        </a:solidFill>
      </p:bgPr>
    </p:bg>
    <p:spTree>
      <p:nvGrpSpPr>
        <p:cNvPr id="1" name=""/>
        <p:cNvGrpSpPr/>
        <p:nvPr/>
      </p:nvGrpSpPr>
      <p:grpSpPr>
        <a:xfrm>
          <a:off x="0" y="0"/>
          <a:ext cx="0" cy="0"/>
          <a:chOff x="0" y="0"/>
          <a:chExt cx="0" cy="0"/>
        </a:xfrm>
      </p:grpSpPr>
      <p:sp>
        <p:nvSpPr>
          <p:cNvPr name="Freeform 2" id="2"/>
          <p:cNvSpPr/>
          <p:nvPr/>
        </p:nvSpPr>
        <p:spPr>
          <a:xfrm flipH="false" flipV="false" rot="0">
            <a:off x="514350" y="1679563"/>
            <a:ext cx="15849911" cy="4640184"/>
          </a:xfrm>
          <a:custGeom>
            <a:avLst/>
            <a:gdLst/>
            <a:ahLst/>
            <a:cxnLst/>
            <a:rect r="r" b="b" t="t" l="l"/>
            <a:pathLst>
              <a:path h="4640184" w="15849911">
                <a:moveTo>
                  <a:pt x="0" y="0"/>
                </a:moveTo>
                <a:lnTo>
                  <a:pt x="15849911" y="0"/>
                </a:lnTo>
                <a:lnTo>
                  <a:pt x="15849911" y="4640184"/>
                </a:lnTo>
                <a:lnTo>
                  <a:pt x="0" y="4640184"/>
                </a:lnTo>
                <a:lnTo>
                  <a:pt x="0" y="0"/>
                </a:lnTo>
                <a:close/>
              </a:path>
            </a:pathLst>
          </a:custGeom>
          <a:blipFill>
            <a:blip r:embed="rId2"/>
            <a:stretch>
              <a:fillRect l="-46" t="0" r="-546" b="-217"/>
            </a:stretch>
          </a:blipFill>
        </p:spPr>
      </p:sp>
      <p:sp>
        <p:nvSpPr>
          <p:cNvPr name="TextBox 3" id="3"/>
          <p:cNvSpPr txBox="true"/>
          <p:nvPr/>
        </p:nvSpPr>
        <p:spPr>
          <a:xfrm rot="0">
            <a:off x="514350" y="6984188"/>
            <a:ext cx="17259300" cy="2734311"/>
          </a:xfrm>
          <a:prstGeom prst="rect">
            <a:avLst/>
          </a:prstGeom>
        </p:spPr>
        <p:txBody>
          <a:bodyPr anchor="t" rtlCol="false" tIns="0" lIns="0" bIns="0" rIns="0">
            <a:spAutoFit/>
          </a:bodyPr>
          <a:lstStyle/>
          <a:p>
            <a:pPr algn="just">
              <a:lnSpc>
                <a:spcPts val="3639"/>
              </a:lnSpc>
              <a:spcBef>
                <a:spcPct val="0"/>
              </a:spcBef>
            </a:pPr>
            <a:r>
              <a:rPr lang="en-US" sz="2599">
                <a:solidFill>
                  <a:srgbClr val="FFFFFF"/>
                </a:solidFill>
                <a:latin typeface="Canva Sans"/>
                <a:ea typeface="Canva Sans"/>
                <a:cs typeface="Canva Sans"/>
                <a:sym typeface="Canva Sans"/>
              </a:rPr>
              <a:t>Les prix de vente des produits agricoles varient entre les pays étudiés, avec une moyenne allant de 123 282 FCFA au Niger à 146 467 FCFA au Mali, avec une moyenne générale de 138 436 FCFA. Le Mali enregistre les prix les plus élevés, tandis que le Niger présente les prix les plus bas. Les écarts de prix sont particulièrement marqués au Sénégal et en Mauritanie, où des prix très faibles (20 000 FCFA) et très élevés (450 000 FCFA) coexistent. En termes de dispersion, le Sénégal et la Mauritanie présentent des écarts types plus élevés, ce qui reflète une plus grande variabilité des prix dans ces pays.</a:t>
            </a:r>
          </a:p>
        </p:txBody>
      </p:sp>
      <p:sp>
        <p:nvSpPr>
          <p:cNvPr name="TextBox 4" id="4"/>
          <p:cNvSpPr txBox="true"/>
          <p:nvPr/>
        </p:nvSpPr>
        <p:spPr>
          <a:xfrm rot="0">
            <a:off x="-4161629" y="6253072"/>
            <a:ext cx="17259300" cy="580390"/>
          </a:xfrm>
          <a:prstGeom prst="rect">
            <a:avLst/>
          </a:prstGeom>
        </p:spPr>
        <p:txBody>
          <a:bodyPr anchor="t" rtlCol="false" tIns="0" lIns="0" bIns="0" rIns="0">
            <a:spAutoFit/>
          </a:bodyPr>
          <a:lstStyle/>
          <a:p>
            <a:pPr algn="ctr">
              <a:lnSpc>
                <a:spcPts val="4759"/>
              </a:lnSpc>
            </a:pPr>
            <a:r>
              <a:rPr lang="en-US" sz="3399">
                <a:solidFill>
                  <a:srgbClr val="D6B611"/>
                </a:solidFill>
                <a:latin typeface="Open Sans"/>
                <a:ea typeface="Open Sans"/>
                <a:cs typeface="Open Sans"/>
                <a:sym typeface="Open Sans"/>
              </a:rPr>
              <a:t>Source: Base fournie, calculs de l’auteur</a:t>
            </a:r>
          </a:p>
        </p:txBody>
      </p:sp>
      <p:sp>
        <p:nvSpPr>
          <p:cNvPr name="TextBox 5" id="5"/>
          <p:cNvSpPr txBox="true"/>
          <p:nvPr/>
        </p:nvSpPr>
        <p:spPr>
          <a:xfrm rot="0">
            <a:off x="-895039" y="840093"/>
            <a:ext cx="17259300" cy="629920"/>
          </a:xfrm>
          <a:prstGeom prst="rect">
            <a:avLst/>
          </a:prstGeom>
        </p:spPr>
        <p:txBody>
          <a:bodyPr anchor="t" rtlCol="false" tIns="0" lIns="0" bIns="0" rIns="0">
            <a:spAutoFit/>
          </a:bodyPr>
          <a:lstStyle/>
          <a:p>
            <a:pPr algn="ctr">
              <a:lnSpc>
                <a:spcPts val="5179"/>
              </a:lnSpc>
            </a:pPr>
            <a:r>
              <a:rPr lang="en-US" sz="3699" b="true">
                <a:solidFill>
                  <a:srgbClr val="D6B611"/>
                </a:solidFill>
                <a:latin typeface="Open Sans Bold"/>
                <a:ea typeface="Open Sans Bold"/>
                <a:cs typeface="Open Sans Bold"/>
                <a:sym typeface="Open Sans Bold"/>
              </a:rPr>
              <a:t>Quelques statistiques sur les prix de vente du bétail par pays</a:t>
            </a:r>
          </a:p>
        </p:txBody>
      </p:sp>
      <p:sp>
        <p:nvSpPr>
          <p:cNvPr name="TextBox 6" id="6"/>
          <p:cNvSpPr txBox="true"/>
          <p:nvPr/>
        </p:nvSpPr>
        <p:spPr>
          <a:xfrm rot="0">
            <a:off x="10079196" y="-13347"/>
            <a:ext cx="9144000" cy="920115"/>
          </a:xfrm>
          <a:prstGeom prst="rect">
            <a:avLst/>
          </a:prstGeom>
        </p:spPr>
        <p:txBody>
          <a:bodyPr anchor="t" rtlCol="false" tIns="0" lIns="0" bIns="0" rIns="0">
            <a:spAutoFit/>
          </a:bodyPr>
          <a:lstStyle/>
          <a:p>
            <a:pPr algn="ctr">
              <a:lnSpc>
                <a:spcPts val="7559"/>
              </a:lnSpc>
            </a:pPr>
            <a:r>
              <a:rPr lang="en-US" sz="5399" b="true">
                <a:solidFill>
                  <a:srgbClr val="25BEC8"/>
                </a:solidFill>
                <a:latin typeface="Open Sans Bold"/>
                <a:ea typeface="Open Sans Bold"/>
                <a:cs typeface="Open Sans Bold"/>
                <a:sym typeface="Open Sans Bold"/>
              </a:rPr>
              <a:t>VENTE DE BETAIL</a:t>
            </a:r>
          </a:p>
        </p:txBody>
      </p:sp>
    </p:spTree>
  </p:cSld>
  <p:clrMapOvr>
    <a:masterClrMapping/>
  </p:clrMapOvr>
  <p:transition spd="fast">
    <p:wipe dir="l"/>
  </p:transition>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083B35"/>
        </a:solidFill>
      </p:bgPr>
    </p:bg>
    <p:spTree>
      <p:nvGrpSpPr>
        <p:cNvPr id="1" name=""/>
        <p:cNvGrpSpPr/>
        <p:nvPr/>
      </p:nvGrpSpPr>
      <p:grpSpPr>
        <a:xfrm>
          <a:off x="0" y="0"/>
          <a:ext cx="0" cy="0"/>
          <a:chOff x="0" y="0"/>
          <a:chExt cx="0" cy="0"/>
        </a:xfrm>
      </p:grpSpPr>
      <p:grpSp>
        <p:nvGrpSpPr>
          <p:cNvPr name="Group 2" id="2"/>
          <p:cNvGrpSpPr/>
          <p:nvPr/>
        </p:nvGrpSpPr>
        <p:grpSpPr>
          <a:xfrm rot="0">
            <a:off x="-8659387" y="2454706"/>
            <a:ext cx="18288000" cy="8816710"/>
            <a:chOff x="0" y="0"/>
            <a:chExt cx="4816593" cy="2322096"/>
          </a:xfrm>
        </p:grpSpPr>
        <p:sp>
          <p:nvSpPr>
            <p:cNvPr name="Freeform 3" id="3"/>
            <p:cNvSpPr/>
            <p:nvPr/>
          </p:nvSpPr>
          <p:spPr>
            <a:xfrm flipH="false" flipV="false" rot="0">
              <a:off x="0" y="0"/>
              <a:ext cx="4816592" cy="2322096"/>
            </a:xfrm>
            <a:custGeom>
              <a:avLst/>
              <a:gdLst/>
              <a:ahLst/>
              <a:cxnLst/>
              <a:rect r="r" b="b" t="t" l="l"/>
              <a:pathLst>
                <a:path h="2322096" w="4816592">
                  <a:moveTo>
                    <a:pt x="42333" y="0"/>
                  </a:moveTo>
                  <a:lnTo>
                    <a:pt x="4774259" y="0"/>
                  </a:lnTo>
                  <a:cubicBezTo>
                    <a:pt x="4785487" y="0"/>
                    <a:pt x="4796254" y="4460"/>
                    <a:pt x="4804193" y="12399"/>
                  </a:cubicBezTo>
                  <a:cubicBezTo>
                    <a:pt x="4812132" y="20338"/>
                    <a:pt x="4816592" y="31106"/>
                    <a:pt x="4816592" y="42333"/>
                  </a:cubicBezTo>
                  <a:lnTo>
                    <a:pt x="4816592" y="2279763"/>
                  </a:lnTo>
                  <a:cubicBezTo>
                    <a:pt x="4816592" y="2290991"/>
                    <a:pt x="4812132" y="2301758"/>
                    <a:pt x="4804193" y="2309697"/>
                  </a:cubicBezTo>
                  <a:cubicBezTo>
                    <a:pt x="4796254" y="2317636"/>
                    <a:pt x="4785487" y="2322096"/>
                    <a:pt x="4774259" y="2322096"/>
                  </a:cubicBezTo>
                  <a:lnTo>
                    <a:pt x="42333" y="2322096"/>
                  </a:lnTo>
                  <a:cubicBezTo>
                    <a:pt x="31106" y="2322096"/>
                    <a:pt x="20338" y="2317636"/>
                    <a:pt x="12399" y="2309697"/>
                  </a:cubicBezTo>
                  <a:cubicBezTo>
                    <a:pt x="4460" y="2301758"/>
                    <a:pt x="0" y="2290991"/>
                    <a:pt x="0" y="2279763"/>
                  </a:cubicBezTo>
                  <a:lnTo>
                    <a:pt x="0" y="42333"/>
                  </a:lnTo>
                  <a:cubicBezTo>
                    <a:pt x="0" y="31106"/>
                    <a:pt x="4460" y="20338"/>
                    <a:pt x="12399" y="12399"/>
                  </a:cubicBezTo>
                  <a:cubicBezTo>
                    <a:pt x="20338" y="4460"/>
                    <a:pt x="31106" y="0"/>
                    <a:pt x="42333" y="0"/>
                  </a:cubicBezTo>
                  <a:close/>
                </a:path>
              </a:pathLst>
            </a:custGeom>
            <a:solidFill>
              <a:srgbClr val="124B44"/>
            </a:solidFill>
          </p:spPr>
        </p:sp>
        <p:sp>
          <p:nvSpPr>
            <p:cNvPr name="TextBox 4" id="4"/>
            <p:cNvSpPr txBox="true"/>
            <p:nvPr/>
          </p:nvSpPr>
          <p:spPr>
            <a:xfrm>
              <a:off x="0" y="-38100"/>
              <a:ext cx="4816593" cy="2360196"/>
            </a:xfrm>
            <a:prstGeom prst="rect">
              <a:avLst/>
            </a:prstGeom>
          </p:spPr>
          <p:txBody>
            <a:bodyPr anchor="ctr" rtlCol="false" tIns="50800" lIns="50800" bIns="50800" rIns="50800"/>
            <a:lstStyle/>
            <a:p>
              <a:pPr algn="ctr">
                <a:lnSpc>
                  <a:spcPts val="2659"/>
                </a:lnSpc>
                <a:spcBef>
                  <a:spcPct val="0"/>
                </a:spcBef>
              </a:pPr>
            </a:p>
          </p:txBody>
        </p:sp>
      </p:grpSp>
      <p:sp>
        <p:nvSpPr>
          <p:cNvPr name="TextBox 5" id="5"/>
          <p:cNvSpPr txBox="true"/>
          <p:nvPr/>
        </p:nvSpPr>
        <p:spPr>
          <a:xfrm rot="0">
            <a:off x="10123479" y="1456385"/>
            <a:ext cx="7780440" cy="8401051"/>
          </a:xfrm>
          <a:prstGeom prst="rect">
            <a:avLst/>
          </a:prstGeom>
        </p:spPr>
        <p:txBody>
          <a:bodyPr anchor="t" rtlCol="false" tIns="0" lIns="0" bIns="0" rIns="0">
            <a:spAutoFit/>
          </a:bodyPr>
          <a:lstStyle/>
          <a:p>
            <a:pPr algn="just">
              <a:lnSpc>
                <a:spcPts val="4499"/>
              </a:lnSpc>
            </a:pPr>
            <a:r>
              <a:rPr lang="en-US" sz="2999">
                <a:solidFill>
                  <a:srgbClr val="FFFFFF"/>
                </a:solidFill>
                <a:latin typeface="TT Interphases"/>
                <a:ea typeface="TT Interphases"/>
                <a:cs typeface="TT Interphases"/>
                <a:sym typeface="TT Interphases"/>
              </a:rPr>
              <a:t>Le prix de vente médian est généralement plus élevé pour les bêtes femelles que pour les mâles dans la plupart des pays étudiés, à l'exception du Sénégal, où cette tendance est inversée. Le Niger affiche un prix médian relativement plus bas que les autres pays, quel que soit le sexe de l'animal, et se situe en dessous du prix médian global de 125 000 FCFA. La valeur la plus élevée observée est de 140 000 FCFA, qui correspond au prix médian des mâles au Sénégal ainsi qu'au prix médian des femelles en Mauritanie. En revanche, au Mali, le prix médian reste constant, quel que soit le sexe de l'animal, se chiffrant à 135 000 FCFA.</a:t>
            </a:r>
          </a:p>
        </p:txBody>
      </p:sp>
      <p:sp>
        <p:nvSpPr>
          <p:cNvPr name="TextBox 6" id="6"/>
          <p:cNvSpPr txBox="true"/>
          <p:nvPr/>
        </p:nvSpPr>
        <p:spPr>
          <a:xfrm rot="0">
            <a:off x="1025218" y="1087346"/>
            <a:ext cx="6502365" cy="573405"/>
          </a:xfrm>
          <a:prstGeom prst="rect">
            <a:avLst/>
          </a:prstGeom>
        </p:spPr>
        <p:txBody>
          <a:bodyPr anchor="t" rtlCol="false" tIns="0" lIns="0" bIns="0" rIns="0">
            <a:spAutoFit/>
          </a:bodyPr>
          <a:lstStyle/>
          <a:p>
            <a:pPr algn="l">
              <a:lnSpc>
                <a:spcPts val="4679"/>
              </a:lnSpc>
            </a:pPr>
            <a:r>
              <a:rPr lang="en-US" sz="3599" spc="143">
                <a:solidFill>
                  <a:srgbClr val="D6B611"/>
                </a:solidFill>
                <a:latin typeface="League Spartan"/>
                <a:ea typeface="League Spartan"/>
                <a:cs typeface="League Spartan"/>
                <a:sym typeface="League Spartan"/>
              </a:rPr>
              <a:t>PRIX DE VENTE MÉDIAN</a:t>
            </a:r>
          </a:p>
        </p:txBody>
      </p:sp>
      <p:sp>
        <p:nvSpPr>
          <p:cNvPr name="Freeform 7" id="7"/>
          <p:cNvSpPr/>
          <p:nvPr/>
        </p:nvSpPr>
        <p:spPr>
          <a:xfrm flipH="false" flipV="false" rot="0">
            <a:off x="0" y="3207254"/>
            <a:ext cx="9144000" cy="6650182"/>
          </a:xfrm>
          <a:custGeom>
            <a:avLst/>
            <a:gdLst/>
            <a:ahLst/>
            <a:cxnLst/>
            <a:rect r="r" b="b" t="t" l="l"/>
            <a:pathLst>
              <a:path h="6650182" w="9144000">
                <a:moveTo>
                  <a:pt x="0" y="0"/>
                </a:moveTo>
                <a:lnTo>
                  <a:pt x="9144000" y="0"/>
                </a:lnTo>
                <a:lnTo>
                  <a:pt x="9144000" y="6650182"/>
                </a:lnTo>
                <a:lnTo>
                  <a:pt x="0" y="6650182"/>
                </a:lnTo>
                <a:lnTo>
                  <a:pt x="0" y="0"/>
                </a:lnTo>
                <a:close/>
              </a:path>
            </a:pathLst>
          </a:custGeom>
          <a:blipFill>
            <a:blip r:embed="rId2"/>
            <a:stretch>
              <a:fillRect l="0" t="0" r="0" b="0"/>
            </a:stretch>
          </a:blipFill>
        </p:spPr>
      </p:sp>
    </p:spTree>
  </p:cSld>
  <p:clrMapOvr>
    <a:masterClrMapping/>
  </p:clrMapOvr>
  <p:transition spd="fast">
    <p:cover dir="d"/>
  </p:transition>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083B35"/>
        </a:solidFill>
      </p:bgPr>
    </p:bg>
    <p:spTree>
      <p:nvGrpSpPr>
        <p:cNvPr id="1" name=""/>
        <p:cNvGrpSpPr/>
        <p:nvPr/>
      </p:nvGrpSpPr>
      <p:grpSpPr>
        <a:xfrm>
          <a:off x="0" y="0"/>
          <a:ext cx="0" cy="0"/>
          <a:chOff x="0" y="0"/>
          <a:chExt cx="0" cy="0"/>
        </a:xfrm>
      </p:grpSpPr>
      <p:sp>
        <p:nvSpPr>
          <p:cNvPr name="Freeform 2" id="2"/>
          <p:cNvSpPr/>
          <p:nvPr/>
        </p:nvSpPr>
        <p:spPr>
          <a:xfrm flipH="false" flipV="false" rot="0">
            <a:off x="11455675" y="174536"/>
            <a:ext cx="6685993" cy="4862540"/>
          </a:xfrm>
          <a:custGeom>
            <a:avLst/>
            <a:gdLst/>
            <a:ahLst/>
            <a:cxnLst/>
            <a:rect r="r" b="b" t="t" l="l"/>
            <a:pathLst>
              <a:path h="4862540" w="6685993">
                <a:moveTo>
                  <a:pt x="0" y="0"/>
                </a:moveTo>
                <a:lnTo>
                  <a:pt x="6685993" y="0"/>
                </a:lnTo>
                <a:lnTo>
                  <a:pt x="6685993" y="4862541"/>
                </a:lnTo>
                <a:lnTo>
                  <a:pt x="0" y="4862541"/>
                </a:lnTo>
                <a:lnTo>
                  <a:pt x="0" y="0"/>
                </a:lnTo>
                <a:close/>
              </a:path>
            </a:pathLst>
          </a:custGeom>
          <a:blipFill>
            <a:blip r:embed="rId2"/>
            <a:stretch>
              <a:fillRect l="0" t="0" r="0" b="0"/>
            </a:stretch>
          </a:blipFill>
        </p:spPr>
      </p:sp>
      <p:sp>
        <p:nvSpPr>
          <p:cNvPr name="Freeform 3" id="3"/>
          <p:cNvSpPr/>
          <p:nvPr/>
        </p:nvSpPr>
        <p:spPr>
          <a:xfrm flipH="false" flipV="false" rot="0">
            <a:off x="11382509" y="5204829"/>
            <a:ext cx="6832325" cy="4968964"/>
          </a:xfrm>
          <a:custGeom>
            <a:avLst/>
            <a:gdLst/>
            <a:ahLst/>
            <a:cxnLst/>
            <a:rect r="r" b="b" t="t" l="l"/>
            <a:pathLst>
              <a:path h="4968964" w="6832325">
                <a:moveTo>
                  <a:pt x="0" y="0"/>
                </a:moveTo>
                <a:lnTo>
                  <a:pt x="6832325" y="0"/>
                </a:lnTo>
                <a:lnTo>
                  <a:pt x="6832325" y="4968964"/>
                </a:lnTo>
                <a:lnTo>
                  <a:pt x="0" y="4968964"/>
                </a:lnTo>
                <a:lnTo>
                  <a:pt x="0" y="0"/>
                </a:lnTo>
                <a:close/>
              </a:path>
            </a:pathLst>
          </a:custGeom>
          <a:blipFill>
            <a:blip r:embed="rId3"/>
            <a:stretch>
              <a:fillRect l="0" t="0" r="0" b="0"/>
            </a:stretch>
          </a:blipFill>
        </p:spPr>
      </p:sp>
      <p:sp>
        <p:nvSpPr>
          <p:cNvPr name="Freeform 4" id="4"/>
          <p:cNvSpPr/>
          <p:nvPr/>
        </p:nvSpPr>
        <p:spPr>
          <a:xfrm flipH="false" flipV="false" rot="0">
            <a:off x="4691765" y="5307392"/>
            <a:ext cx="6606974" cy="4805072"/>
          </a:xfrm>
          <a:custGeom>
            <a:avLst/>
            <a:gdLst/>
            <a:ahLst/>
            <a:cxnLst/>
            <a:rect r="r" b="b" t="t" l="l"/>
            <a:pathLst>
              <a:path h="4805072" w="6606974">
                <a:moveTo>
                  <a:pt x="0" y="0"/>
                </a:moveTo>
                <a:lnTo>
                  <a:pt x="6606974" y="0"/>
                </a:lnTo>
                <a:lnTo>
                  <a:pt x="6606974" y="4805072"/>
                </a:lnTo>
                <a:lnTo>
                  <a:pt x="0" y="4805072"/>
                </a:lnTo>
                <a:lnTo>
                  <a:pt x="0" y="0"/>
                </a:lnTo>
                <a:close/>
              </a:path>
            </a:pathLst>
          </a:custGeom>
          <a:blipFill>
            <a:blip r:embed="rId4"/>
            <a:stretch>
              <a:fillRect l="0" t="0" r="0" b="0"/>
            </a:stretch>
          </a:blipFill>
        </p:spPr>
      </p:sp>
      <p:sp>
        <p:nvSpPr>
          <p:cNvPr name="Freeform 5" id="5"/>
          <p:cNvSpPr/>
          <p:nvPr/>
        </p:nvSpPr>
        <p:spPr>
          <a:xfrm flipH="false" flipV="false" rot="0">
            <a:off x="4697222" y="6784"/>
            <a:ext cx="6601517" cy="5198045"/>
          </a:xfrm>
          <a:custGeom>
            <a:avLst/>
            <a:gdLst/>
            <a:ahLst/>
            <a:cxnLst/>
            <a:rect r="r" b="b" t="t" l="l"/>
            <a:pathLst>
              <a:path h="5198045" w="6601517">
                <a:moveTo>
                  <a:pt x="0" y="0"/>
                </a:moveTo>
                <a:lnTo>
                  <a:pt x="6601517" y="0"/>
                </a:lnTo>
                <a:lnTo>
                  <a:pt x="6601517" y="5198045"/>
                </a:lnTo>
                <a:lnTo>
                  <a:pt x="0" y="5198045"/>
                </a:lnTo>
                <a:lnTo>
                  <a:pt x="0" y="0"/>
                </a:lnTo>
                <a:close/>
              </a:path>
            </a:pathLst>
          </a:custGeom>
          <a:blipFill>
            <a:blip r:embed="rId5"/>
            <a:stretch>
              <a:fillRect l="0" t="0" r="0" b="0"/>
            </a:stretch>
          </a:blipFill>
        </p:spPr>
      </p:sp>
      <p:sp>
        <p:nvSpPr>
          <p:cNvPr name="Freeform 6" id="6"/>
          <p:cNvSpPr/>
          <p:nvPr/>
        </p:nvSpPr>
        <p:spPr>
          <a:xfrm flipH="false" flipV="false" rot="0">
            <a:off x="-5571374" y="1564447"/>
            <a:ext cx="8608155" cy="8735213"/>
          </a:xfrm>
          <a:custGeom>
            <a:avLst/>
            <a:gdLst/>
            <a:ahLst/>
            <a:cxnLst/>
            <a:rect r="r" b="b" t="t" l="l"/>
            <a:pathLst>
              <a:path h="8735213" w="8608155">
                <a:moveTo>
                  <a:pt x="0" y="0"/>
                </a:moveTo>
                <a:lnTo>
                  <a:pt x="8608156" y="0"/>
                </a:lnTo>
                <a:lnTo>
                  <a:pt x="8608156" y="8735213"/>
                </a:lnTo>
                <a:lnTo>
                  <a:pt x="0" y="873521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7" id="7"/>
          <p:cNvSpPr txBox="true"/>
          <p:nvPr/>
        </p:nvSpPr>
        <p:spPr>
          <a:xfrm rot="-5400000">
            <a:off x="-1793992" y="5285622"/>
            <a:ext cx="6652494" cy="1292861"/>
          </a:xfrm>
          <a:prstGeom prst="rect">
            <a:avLst/>
          </a:prstGeom>
        </p:spPr>
        <p:txBody>
          <a:bodyPr anchor="t" rtlCol="false" tIns="0" lIns="0" bIns="0" rIns="0">
            <a:spAutoFit/>
          </a:bodyPr>
          <a:lstStyle/>
          <a:p>
            <a:pPr algn="ctr">
              <a:lnSpc>
                <a:spcPts val="10639"/>
              </a:lnSpc>
            </a:pPr>
            <a:r>
              <a:rPr lang="en-US" sz="7599" b="true">
                <a:solidFill>
                  <a:srgbClr val="FFFFFF"/>
                </a:solidFill>
                <a:latin typeface="Open Sans Bold"/>
                <a:ea typeface="Open Sans Bold"/>
                <a:cs typeface="Open Sans Bold"/>
                <a:sym typeface="Open Sans Bold"/>
              </a:rPr>
              <a:t>Modèle 1</a:t>
            </a:r>
          </a:p>
        </p:txBody>
      </p:sp>
    </p:spTree>
  </p:cSld>
  <p:clrMapOvr>
    <a:masterClrMapping/>
  </p:clrMapOvr>
  <p:transition spd="slow">
    <p:push dir="l"/>
  </p:transition>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083B35"/>
        </a:solidFill>
      </p:bgPr>
    </p:bg>
    <p:spTree>
      <p:nvGrpSpPr>
        <p:cNvPr id="1" name=""/>
        <p:cNvGrpSpPr/>
        <p:nvPr/>
      </p:nvGrpSpPr>
      <p:grpSpPr>
        <a:xfrm>
          <a:off x="0" y="0"/>
          <a:ext cx="0" cy="0"/>
          <a:chOff x="0" y="0"/>
          <a:chExt cx="0" cy="0"/>
        </a:xfrm>
      </p:grpSpPr>
      <p:sp>
        <p:nvSpPr>
          <p:cNvPr name="Freeform 2" id="2"/>
          <p:cNvSpPr/>
          <p:nvPr/>
        </p:nvSpPr>
        <p:spPr>
          <a:xfrm flipH="false" flipV="false" rot="0">
            <a:off x="-5571374" y="1564447"/>
            <a:ext cx="8608155" cy="8735213"/>
          </a:xfrm>
          <a:custGeom>
            <a:avLst/>
            <a:gdLst/>
            <a:ahLst/>
            <a:cxnLst/>
            <a:rect r="r" b="b" t="t" l="l"/>
            <a:pathLst>
              <a:path h="8735213" w="8608155">
                <a:moveTo>
                  <a:pt x="0" y="0"/>
                </a:moveTo>
                <a:lnTo>
                  <a:pt x="8608156" y="0"/>
                </a:lnTo>
                <a:lnTo>
                  <a:pt x="8608156" y="8735213"/>
                </a:lnTo>
                <a:lnTo>
                  <a:pt x="0" y="873521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5400000">
            <a:off x="-1793992" y="5285622"/>
            <a:ext cx="6652494" cy="1292861"/>
          </a:xfrm>
          <a:prstGeom prst="rect">
            <a:avLst/>
          </a:prstGeom>
        </p:spPr>
        <p:txBody>
          <a:bodyPr anchor="t" rtlCol="false" tIns="0" lIns="0" bIns="0" rIns="0">
            <a:spAutoFit/>
          </a:bodyPr>
          <a:lstStyle/>
          <a:p>
            <a:pPr algn="ctr">
              <a:lnSpc>
                <a:spcPts val="10639"/>
              </a:lnSpc>
            </a:pPr>
            <a:r>
              <a:rPr lang="en-US" sz="7599" b="true">
                <a:solidFill>
                  <a:srgbClr val="FFFFFF"/>
                </a:solidFill>
                <a:latin typeface="Open Sans Bold"/>
                <a:ea typeface="Open Sans Bold"/>
                <a:cs typeface="Open Sans Bold"/>
                <a:sym typeface="Open Sans Bold"/>
              </a:rPr>
              <a:t>Modèle 2</a:t>
            </a:r>
          </a:p>
        </p:txBody>
      </p:sp>
      <p:sp>
        <p:nvSpPr>
          <p:cNvPr name="Freeform 4" id="4"/>
          <p:cNvSpPr/>
          <p:nvPr/>
        </p:nvSpPr>
        <p:spPr>
          <a:xfrm flipH="false" flipV="false" rot="0">
            <a:off x="4684667" y="299868"/>
            <a:ext cx="6344424" cy="5275711"/>
          </a:xfrm>
          <a:custGeom>
            <a:avLst/>
            <a:gdLst/>
            <a:ahLst/>
            <a:cxnLst/>
            <a:rect r="r" b="b" t="t" l="l"/>
            <a:pathLst>
              <a:path h="5275711" w="6344424">
                <a:moveTo>
                  <a:pt x="0" y="0"/>
                </a:moveTo>
                <a:lnTo>
                  <a:pt x="6344424" y="0"/>
                </a:lnTo>
                <a:lnTo>
                  <a:pt x="6344424" y="5275711"/>
                </a:lnTo>
                <a:lnTo>
                  <a:pt x="0" y="5275711"/>
                </a:lnTo>
                <a:lnTo>
                  <a:pt x="0" y="0"/>
                </a:lnTo>
                <a:close/>
              </a:path>
            </a:pathLst>
          </a:custGeom>
          <a:blipFill>
            <a:blip r:embed="rId4"/>
            <a:stretch>
              <a:fillRect l="0" t="0" r="0" b="0"/>
            </a:stretch>
          </a:blipFill>
        </p:spPr>
      </p:sp>
      <p:sp>
        <p:nvSpPr>
          <p:cNvPr name="Freeform 5" id="5"/>
          <p:cNvSpPr/>
          <p:nvPr/>
        </p:nvSpPr>
        <p:spPr>
          <a:xfrm flipH="false" flipV="false" rot="0">
            <a:off x="11165786" y="306749"/>
            <a:ext cx="6925978" cy="5037075"/>
          </a:xfrm>
          <a:custGeom>
            <a:avLst/>
            <a:gdLst/>
            <a:ahLst/>
            <a:cxnLst/>
            <a:rect r="r" b="b" t="t" l="l"/>
            <a:pathLst>
              <a:path h="5037075" w="6925978">
                <a:moveTo>
                  <a:pt x="0" y="0"/>
                </a:moveTo>
                <a:lnTo>
                  <a:pt x="6925978" y="0"/>
                </a:lnTo>
                <a:lnTo>
                  <a:pt x="6925978" y="5037075"/>
                </a:lnTo>
                <a:lnTo>
                  <a:pt x="0" y="5037075"/>
                </a:lnTo>
                <a:lnTo>
                  <a:pt x="0" y="0"/>
                </a:lnTo>
                <a:close/>
              </a:path>
            </a:pathLst>
          </a:custGeom>
          <a:blipFill>
            <a:blip r:embed="rId5"/>
            <a:stretch>
              <a:fillRect l="0" t="0" r="0" b="0"/>
            </a:stretch>
          </a:blipFill>
        </p:spPr>
      </p:sp>
      <p:sp>
        <p:nvSpPr>
          <p:cNvPr name="Freeform 6" id="6"/>
          <p:cNvSpPr/>
          <p:nvPr/>
        </p:nvSpPr>
        <p:spPr>
          <a:xfrm flipH="false" flipV="false" rot="0">
            <a:off x="4697222" y="5575579"/>
            <a:ext cx="6331869" cy="4604996"/>
          </a:xfrm>
          <a:custGeom>
            <a:avLst/>
            <a:gdLst/>
            <a:ahLst/>
            <a:cxnLst/>
            <a:rect r="r" b="b" t="t" l="l"/>
            <a:pathLst>
              <a:path h="4604996" w="6331869">
                <a:moveTo>
                  <a:pt x="0" y="0"/>
                </a:moveTo>
                <a:lnTo>
                  <a:pt x="6331869" y="0"/>
                </a:lnTo>
                <a:lnTo>
                  <a:pt x="6331869" y="4604996"/>
                </a:lnTo>
                <a:lnTo>
                  <a:pt x="0" y="4604996"/>
                </a:lnTo>
                <a:lnTo>
                  <a:pt x="0" y="0"/>
                </a:lnTo>
                <a:close/>
              </a:path>
            </a:pathLst>
          </a:custGeom>
          <a:blipFill>
            <a:blip r:embed="rId6"/>
            <a:stretch>
              <a:fillRect l="0" t="0" r="0" b="0"/>
            </a:stretch>
          </a:blipFill>
        </p:spPr>
      </p:sp>
      <p:sp>
        <p:nvSpPr>
          <p:cNvPr name="Freeform 7" id="7"/>
          <p:cNvSpPr/>
          <p:nvPr/>
        </p:nvSpPr>
        <p:spPr>
          <a:xfrm flipH="false" flipV="false" rot="0">
            <a:off x="11309342" y="5413815"/>
            <a:ext cx="6782422" cy="4932671"/>
          </a:xfrm>
          <a:custGeom>
            <a:avLst/>
            <a:gdLst/>
            <a:ahLst/>
            <a:cxnLst/>
            <a:rect r="r" b="b" t="t" l="l"/>
            <a:pathLst>
              <a:path h="4932671" w="6782422">
                <a:moveTo>
                  <a:pt x="0" y="0"/>
                </a:moveTo>
                <a:lnTo>
                  <a:pt x="6782422" y="0"/>
                </a:lnTo>
                <a:lnTo>
                  <a:pt x="6782422" y="4932671"/>
                </a:lnTo>
                <a:lnTo>
                  <a:pt x="0" y="4932671"/>
                </a:lnTo>
                <a:lnTo>
                  <a:pt x="0" y="0"/>
                </a:lnTo>
                <a:close/>
              </a:path>
            </a:pathLst>
          </a:custGeom>
          <a:blipFill>
            <a:blip r:embed="rId7"/>
            <a:stretch>
              <a:fillRect l="0" t="0" r="0" b="0"/>
            </a:stretch>
          </a:blipFill>
        </p:spPr>
      </p:sp>
    </p:spTree>
  </p:cSld>
  <p:clrMapOvr>
    <a:masterClrMapping/>
  </p:clrMapOvr>
  <p:transition spd="fast">
    <p:fade/>
  </p:transition>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083B35"/>
        </a:solidFill>
      </p:bgPr>
    </p:bg>
    <p:spTree>
      <p:nvGrpSpPr>
        <p:cNvPr id="1" name=""/>
        <p:cNvGrpSpPr/>
        <p:nvPr/>
      </p:nvGrpSpPr>
      <p:grpSpPr>
        <a:xfrm>
          <a:off x="0" y="0"/>
          <a:ext cx="0" cy="0"/>
          <a:chOff x="0" y="0"/>
          <a:chExt cx="0" cy="0"/>
        </a:xfrm>
      </p:grpSpPr>
      <p:sp>
        <p:nvSpPr>
          <p:cNvPr name="Freeform 2" id="2"/>
          <p:cNvSpPr/>
          <p:nvPr/>
        </p:nvSpPr>
        <p:spPr>
          <a:xfrm flipH="false" flipV="false" rot="0">
            <a:off x="-5571374" y="1564447"/>
            <a:ext cx="8608155" cy="8735213"/>
          </a:xfrm>
          <a:custGeom>
            <a:avLst/>
            <a:gdLst/>
            <a:ahLst/>
            <a:cxnLst/>
            <a:rect r="r" b="b" t="t" l="l"/>
            <a:pathLst>
              <a:path h="8735213" w="8608155">
                <a:moveTo>
                  <a:pt x="0" y="0"/>
                </a:moveTo>
                <a:lnTo>
                  <a:pt x="8608156" y="0"/>
                </a:lnTo>
                <a:lnTo>
                  <a:pt x="8608156" y="8735213"/>
                </a:lnTo>
                <a:lnTo>
                  <a:pt x="0" y="873521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5400000">
            <a:off x="-1793992" y="5285622"/>
            <a:ext cx="6652494" cy="1292861"/>
          </a:xfrm>
          <a:prstGeom prst="rect">
            <a:avLst/>
          </a:prstGeom>
        </p:spPr>
        <p:txBody>
          <a:bodyPr anchor="t" rtlCol="false" tIns="0" lIns="0" bIns="0" rIns="0">
            <a:spAutoFit/>
          </a:bodyPr>
          <a:lstStyle/>
          <a:p>
            <a:pPr algn="ctr">
              <a:lnSpc>
                <a:spcPts val="10639"/>
              </a:lnSpc>
            </a:pPr>
            <a:r>
              <a:rPr lang="en-US" sz="7599" b="true">
                <a:solidFill>
                  <a:srgbClr val="FFFFFF"/>
                </a:solidFill>
                <a:latin typeface="Open Sans Bold"/>
                <a:ea typeface="Open Sans Bold"/>
                <a:cs typeface="Open Sans Bold"/>
                <a:sym typeface="Open Sans Bold"/>
              </a:rPr>
              <a:t>Modèle 3</a:t>
            </a:r>
          </a:p>
        </p:txBody>
      </p:sp>
      <p:sp>
        <p:nvSpPr>
          <p:cNvPr name="Freeform 4" id="4"/>
          <p:cNvSpPr/>
          <p:nvPr/>
        </p:nvSpPr>
        <p:spPr>
          <a:xfrm flipH="false" flipV="false" rot="0">
            <a:off x="4416458" y="310866"/>
            <a:ext cx="6892885" cy="4832634"/>
          </a:xfrm>
          <a:custGeom>
            <a:avLst/>
            <a:gdLst/>
            <a:ahLst/>
            <a:cxnLst/>
            <a:rect r="r" b="b" t="t" l="l"/>
            <a:pathLst>
              <a:path h="4832634" w="6892885">
                <a:moveTo>
                  <a:pt x="0" y="0"/>
                </a:moveTo>
                <a:lnTo>
                  <a:pt x="6892884" y="0"/>
                </a:lnTo>
                <a:lnTo>
                  <a:pt x="6892884" y="4832634"/>
                </a:lnTo>
                <a:lnTo>
                  <a:pt x="0" y="4832634"/>
                </a:lnTo>
                <a:lnTo>
                  <a:pt x="0" y="0"/>
                </a:lnTo>
                <a:close/>
              </a:path>
            </a:pathLst>
          </a:custGeom>
          <a:blipFill>
            <a:blip r:embed="rId4"/>
            <a:stretch>
              <a:fillRect l="0" t="0" r="-2082" b="0"/>
            </a:stretch>
          </a:blipFill>
        </p:spPr>
      </p:sp>
      <p:sp>
        <p:nvSpPr>
          <p:cNvPr name="Freeform 5" id="5"/>
          <p:cNvSpPr/>
          <p:nvPr/>
        </p:nvSpPr>
        <p:spPr>
          <a:xfrm flipH="false" flipV="false" rot="0">
            <a:off x="11428621" y="310866"/>
            <a:ext cx="6663143" cy="4845922"/>
          </a:xfrm>
          <a:custGeom>
            <a:avLst/>
            <a:gdLst/>
            <a:ahLst/>
            <a:cxnLst/>
            <a:rect r="r" b="b" t="t" l="l"/>
            <a:pathLst>
              <a:path h="4845922" w="6663143">
                <a:moveTo>
                  <a:pt x="0" y="0"/>
                </a:moveTo>
                <a:lnTo>
                  <a:pt x="6663143" y="0"/>
                </a:lnTo>
                <a:lnTo>
                  <a:pt x="6663143" y="4845923"/>
                </a:lnTo>
                <a:lnTo>
                  <a:pt x="0" y="4845923"/>
                </a:lnTo>
                <a:lnTo>
                  <a:pt x="0" y="0"/>
                </a:lnTo>
                <a:close/>
              </a:path>
            </a:pathLst>
          </a:custGeom>
          <a:blipFill>
            <a:blip r:embed="rId5"/>
            <a:stretch>
              <a:fillRect l="0" t="0" r="0" b="0"/>
            </a:stretch>
          </a:blipFill>
        </p:spPr>
      </p:sp>
      <p:sp>
        <p:nvSpPr>
          <p:cNvPr name="Freeform 6" id="6"/>
          <p:cNvSpPr/>
          <p:nvPr/>
        </p:nvSpPr>
        <p:spPr>
          <a:xfrm flipH="false" flipV="false" rot="0">
            <a:off x="4416458" y="5413815"/>
            <a:ext cx="6563074" cy="4773145"/>
          </a:xfrm>
          <a:custGeom>
            <a:avLst/>
            <a:gdLst/>
            <a:ahLst/>
            <a:cxnLst/>
            <a:rect r="r" b="b" t="t" l="l"/>
            <a:pathLst>
              <a:path h="4773145" w="6563074">
                <a:moveTo>
                  <a:pt x="0" y="0"/>
                </a:moveTo>
                <a:lnTo>
                  <a:pt x="6563074" y="0"/>
                </a:lnTo>
                <a:lnTo>
                  <a:pt x="6563074" y="4773145"/>
                </a:lnTo>
                <a:lnTo>
                  <a:pt x="0" y="4773145"/>
                </a:lnTo>
                <a:lnTo>
                  <a:pt x="0" y="0"/>
                </a:lnTo>
                <a:close/>
              </a:path>
            </a:pathLst>
          </a:custGeom>
          <a:blipFill>
            <a:blip r:embed="rId6"/>
            <a:stretch>
              <a:fillRect l="0" t="0" r="0" b="0"/>
            </a:stretch>
          </a:blipFill>
        </p:spPr>
      </p:sp>
      <p:sp>
        <p:nvSpPr>
          <p:cNvPr name="Freeform 7" id="7"/>
          <p:cNvSpPr/>
          <p:nvPr/>
        </p:nvSpPr>
        <p:spPr>
          <a:xfrm flipH="false" flipV="false" rot="0">
            <a:off x="11428621" y="5413815"/>
            <a:ext cx="6504541" cy="4730575"/>
          </a:xfrm>
          <a:custGeom>
            <a:avLst/>
            <a:gdLst/>
            <a:ahLst/>
            <a:cxnLst/>
            <a:rect r="r" b="b" t="t" l="l"/>
            <a:pathLst>
              <a:path h="4730575" w="6504541">
                <a:moveTo>
                  <a:pt x="0" y="0"/>
                </a:moveTo>
                <a:lnTo>
                  <a:pt x="6504542" y="0"/>
                </a:lnTo>
                <a:lnTo>
                  <a:pt x="6504542" y="4730576"/>
                </a:lnTo>
                <a:lnTo>
                  <a:pt x="0" y="4730576"/>
                </a:lnTo>
                <a:lnTo>
                  <a:pt x="0" y="0"/>
                </a:lnTo>
                <a:close/>
              </a:path>
            </a:pathLst>
          </a:custGeom>
          <a:blipFill>
            <a:blip r:embed="rId7"/>
            <a:stretch>
              <a:fillRect l="0" t="0" r="0" b="0"/>
            </a:stretch>
          </a:blipFill>
        </p:spPr>
      </p:sp>
    </p:spTree>
  </p:cSld>
  <p:clrMapOvr>
    <a:masterClrMapping/>
  </p:clrMapOvr>
  <p:transition spd="fast">
    <p:circle/>
  </p:transition>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083B35"/>
        </a:solidFill>
      </p:bgPr>
    </p:bg>
    <p:spTree>
      <p:nvGrpSpPr>
        <p:cNvPr id="1" name=""/>
        <p:cNvGrpSpPr/>
        <p:nvPr/>
      </p:nvGrpSpPr>
      <p:grpSpPr>
        <a:xfrm>
          <a:off x="0" y="0"/>
          <a:ext cx="0" cy="0"/>
          <a:chOff x="0" y="0"/>
          <a:chExt cx="0" cy="0"/>
        </a:xfrm>
      </p:grpSpPr>
      <p:sp>
        <p:nvSpPr>
          <p:cNvPr name="Freeform 2" id="2"/>
          <p:cNvSpPr/>
          <p:nvPr/>
        </p:nvSpPr>
        <p:spPr>
          <a:xfrm flipH="false" flipV="false" rot="0">
            <a:off x="344793" y="1416252"/>
            <a:ext cx="8030752" cy="2929052"/>
          </a:xfrm>
          <a:custGeom>
            <a:avLst/>
            <a:gdLst/>
            <a:ahLst/>
            <a:cxnLst/>
            <a:rect r="r" b="b" t="t" l="l"/>
            <a:pathLst>
              <a:path h="2929052" w="8030752">
                <a:moveTo>
                  <a:pt x="0" y="0"/>
                </a:moveTo>
                <a:lnTo>
                  <a:pt x="8030751" y="0"/>
                </a:lnTo>
                <a:lnTo>
                  <a:pt x="8030751" y="2929052"/>
                </a:lnTo>
                <a:lnTo>
                  <a:pt x="0" y="2929052"/>
                </a:lnTo>
                <a:lnTo>
                  <a:pt x="0" y="0"/>
                </a:lnTo>
                <a:close/>
              </a:path>
            </a:pathLst>
          </a:custGeom>
          <a:blipFill>
            <a:blip r:embed="rId2"/>
            <a:stretch>
              <a:fillRect l="0" t="0" r="0" b="0"/>
            </a:stretch>
          </a:blipFill>
        </p:spPr>
      </p:sp>
      <p:sp>
        <p:nvSpPr>
          <p:cNvPr name="Freeform 3" id="3"/>
          <p:cNvSpPr/>
          <p:nvPr/>
        </p:nvSpPr>
        <p:spPr>
          <a:xfrm flipH="false" flipV="false" rot="0">
            <a:off x="9818570" y="6355682"/>
            <a:ext cx="8174105" cy="3583396"/>
          </a:xfrm>
          <a:custGeom>
            <a:avLst/>
            <a:gdLst/>
            <a:ahLst/>
            <a:cxnLst/>
            <a:rect r="r" b="b" t="t" l="l"/>
            <a:pathLst>
              <a:path h="3583396" w="8174105">
                <a:moveTo>
                  <a:pt x="0" y="0"/>
                </a:moveTo>
                <a:lnTo>
                  <a:pt x="8174105" y="0"/>
                </a:lnTo>
                <a:lnTo>
                  <a:pt x="8174105" y="3583396"/>
                </a:lnTo>
                <a:lnTo>
                  <a:pt x="0" y="3583396"/>
                </a:lnTo>
                <a:lnTo>
                  <a:pt x="0" y="0"/>
                </a:lnTo>
                <a:close/>
              </a:path>
            </a:pathLst>
          </a:custGeom>
          <a:blipFill>
            <a:blip r:embed="rId3"/>
            <a:stretch>
              <a:fillRect l="0" t="0" r="0" b="0"/>
            </a:stretch>
          </a:blipFill>
        </p:spPr>
      </p:sp>
      <p:sp>
        <p:nvSpPr>
          <p:cNvPr name="TextBox 4" id="4"/>
          <p:cNvSpPr txBox="true"/>
          <p:nvPr/>
        </p:nvSpPr>
        <p:spPr>
          <a:xfrm rot="0">
            <a:off x="344793" y="529157"/>
            <a:ext cx="6891457" cy="887095"/>
          </a:xfrm>
          <a:prstGeom prst="rect">
            <a:avLst/>
          </a:prstGeom>
        </p:spPr>
        <p:txBody>
          <a:bodyPr anchor="t" rtlCol="false" tIns="0" lIns="0" bIns="0" rIns="0">
            <a:spAutoFit/>
          </a:bodyPr>
          <a:lstStyle/>
          <a:p>
            <a:pPr algn="ctr">
              <a:lnSpc>
                <a:spcPts val="7279"/>
              </a:lnSpc>
            </a:pPr>
            <a:r>
              <a:rPr lang="en-US" sz="5199" b="true">
                <a:solidFill>
                  <a:srgbClr val="FFFFFF"/>
                </a:solidFill>
                <a:latin typeface="Open Sans Bold"/>
                <a:ea typeface="Open Sans Bold"/>
                <a:cs typeface="Open Sans Bold"/>
                <a:sym typeface="Open Sans Bold"/>
              </a:rPr>
              <a:t>Résumé des modèles</a:t>
            </a:r>
          </a:p>
        </p:txBody>
      </p:sp>
      <p:sp>
        <p:nvSpPr>
          <p:cNvPr name="TextBox 5" id="5"/>
          <p:cNvSpPr txBox="true"/>
          <p:nvPr/>
        </p:nvSpPr>
        <p:spPr>
          <a:xfrm rot="0">
            <a:off x="9818570" y="5048250"/>
            <a:ext cx="8116729" cy="887095"/>
          </a:xfrm>
          <a:prstGeom prst="rect">
            <a:avLst/>
          </a:prstGeom>
        </p:spPr>
        <p:txBody>
          <a:bodyPr anchor="t" rtlCol="false" tIns="0" lIns="0" bIns="0" rIns="0">
            <a:spAutoFit/>
          </a:bodyPr>
          <a:lstStyle/>
          <a:p>
            <a:pPr algn="ctr">
              <a:lnSpc>
                <a:spcPts val="7279"/>
              </a:lnSpc>
            </a:pPr>
            <a:r>
              <a:rPr lang="en-US" sz="5199" b="true">
                <a:solidFill>
                  <a:srgbClr val="FFFFFF"/>
                </a:solidFill>
                <a:latin typeface="Open Sans Bold"/>
                <a:ea typeface="Open Sans Bold"/>
                <a:cs typeface="Open Sans Bold"/>
                <a:sym typeface="Open Sans Bold"/>
              </a:rPr>
              <a:t>Ajout de </a:t>
            </a:r>
            <a:r>
              <a:rPr lang="en-US" sz="5199" b="true">
                <a:solidFill>
                  <a:srgbClr val="D6B611"/>
                </a:solidFill>
                <a:latin typeface="Open Sans Bold"/>
                <a:ea typeface="Open Sans Bold"/>
                <a:cs typeface="Open Sans Bold"/>
                <a:sym typeface="Open Sans Bold"/>
              </a:rPr>
              <a:t>animal_number</a:t>
            </a:r>
          </a:p>
        </p:txBody>
      </p:sp>
      <p:sp>
        <p:nvSpPr>
          <p:cNvPr name="TextBox 6" id="6"/>
          <p:cNvSpPr txBox="true"/>
          <p:nvPr/>
        </p:nvSpPr>
        <p:spPr>
          <a:xfrm rot="0">
            <a:off x="8791299" y="1458594"/>
            <a:ext cx="9144000" cy="2886710"/>
          </a:xfrm>
          <a:prstGeom prst="rect">
            <a:avLst/>
          </a:prstGeom>
        </p:spPr>
        <p:txBody>
          <a:bodyPr anchor="t" rtlCol="false" tIns="0" lIns="0" bIns="0" rIns="0">
            <a:spAutoFit/>
          </a:bodyPr>
          <a:lstStyle/>
          <a:p>
            <a:pPr algn="just">
              <a:lnSpc>
                <a:spcPts val="2860"/>
              </a:lnSpc>
              <a:spcBef>
                <a:spcPct val="0"/>
              </a:spcBef>
            </a:pPr>
            <a:r>
              <a:rPr lang="en-US" sz="2200" spc="88">
                <a:solidFill>
                  <a:srgbClr val="FFFFFF"/>
                </a:solidFill>
                <a:latin typeface="Canva Sans"/>
                <a:ea typeface="Canva Sans"/>
                <a:cs typeface="Canva Sans"/>
                <a:sym typeface="Canva Sans"/>
              </a:rPr>
              <a:t>LA STANDARDISATION DE VARIABLES DANS LES MODÈLES ET L'UTILISATION DE VARIABLES DUMMIES AMÉLIORENT LÉGÈREMENT L'AJUSTEMENT GLOBAL. EN EFFET, LE R-SQUARED (COEFFICIENT DE DÉTERMINATION), QUI MESURE LA PROPORTION DE LA VARIANCE EXPLIQUÉE PAR LE MODÈLE, AUGMENTE DE 0.1624 DANS LE MODÈLE 1 À 0.1914 DANS LE MODÈLE 3. CELA INDIQUE UNE MEILLEURE CAPACITÉ EXPLICATIVE DU DERNIER MODÈLE.</a:t>
            </a:r>
          </a:p>
        </p:txBody>
      </p:sp>
      <p:sp>
        <p:nvSpPr>
          <p:cNvPr name="TextBox 7" id="7"/>
          <p:cNvSpPr txBox="true"/>
          <p:nvPr/>
        </p:nvSpPr>
        <p:spPr>
          <a:xfrm rot="0">
            <a:off x="0" y="5264208"/>
            <a:ext cx="8791299" cy="5065395"/>
          </a:xfrm>
          <a:prstGeom prst="rect">
            <a:avLst/>
          </a:prstGeom>
        </p:spPr>
        <p:txBody>
          <a:bodyPr anchor="t" rtlCol="false" tIns="0" lIns="0" bIns="0" rIns="0">
            <a:spAutoFit/>
          </a:bodyPr>
          <a:lstStyle/>
          <a:p>
            <a:pPr algn="just">
              <a:lnSpc>
                <a:spcPts val="3120"/>
              </a:lnSpc>
              <a:spcBef>
                <a:spcPct val="0"/>
              </a:spcBef>
            </a:pPr>
            <a:r>
              <a:rPr lang="en-US" sz="2400" spc="96">
                <a:solidFill>
                  <a:srgbClr val="FEF3EA"/>
                </a:solidFill>
                <a:latin typeface="Canva Sans"/>
                <a:ea typeface="Canva Sans"/>
                <a:cs typeface="Canva Sans"/>
                <a:sym typeface="Canva Sans"/>
              </a:rPr>
              <a:t>L'AJOUT DE LA VARIABLE ANIMAL_NUMBER A CONTRIBUÉ À AMÉLIORER LA PERFORMANCE DU MODÈLE.</a:t>
            </a:r>
          </a:p>
          <a:p>
            <a:pPr algn="just">
              <a:lnSpc>
                <a:spcPts val="3120"/>
              </a:lnSpc>
              <a:spcBef>
                <a:spcPct val="0"/>
              </a:spcBef>
            </a:pPr>
            <a:r>
              <a:rPr lang="en-US" sz="2400" spc="96">
                <a:solidFill>
                  <a:srgbClr val="FEF3EA"/>
                </a:solidFill>
                <a:latin typeface="Canva Sans"/>
                <a:ea typeface="Canva Sans"/>
                <a:cs typeface="Canva Sans"/>
                <a:sym typeface="Canva Sans"/>
              </a:rPr>
              <a:t>EN EFFET :</a:t>
            </a:r>
          </a:p>
          <a:p>
            <a:pPr algn="just" marL="518163" indent="-259082" lvl="1">
              <a:lnSpc>
                <a:spcPts val="3120"/>
              </a:lnSpc>
              <a:buFont typeface="Arial"/>
              <a:buChar char="•"/>
            </a:pPr>
            <a:r>
              <a:rPr lang="en-US" sz="2400" spc="96">
                <a:solidFill>
                  <a:srgbClr val="FEF3EA"/>
                </a:solidFill>
                <a:latin typeface="Canva Sans"/>
                <a:ea typeface="Canva Sans"/>
                <a:cs typeface="Canva Sans"/>
                <a:sym typeface="Canva Sans"/>
              </a:rPr>
              <a:t>LE R-SQUARED PASSE À 0.2060, INDIQUANT QUE LE MODÈLE EXPLIQUE MIEUX LA VARIANCE DES DONNÉES.</a:t>
            </a:r>
          </a:p>
          <a:p>
            <a:pPr algn="just" marL="518163" indent="-259082" lvl="1">
              <a:lnSpc>
                <a:spcPts val="3120"/>
              </a:lnSpc>
              <a:buFont typeface="Arial"/>
              <a:buChar char="•"/>
            </a:pPr>
            <a:r>
              <a:rPr lang="en-US" sz="2400" spc="96">
                <a:solidFill>
                  <a:srgbClr val="FEF3EA"/>
                </a:solidFill>
                <a:latin typeface="Canva Sans"/>
                <a:ea typeface="Canva Sans"/>
                <a:cs typeface="Canva Sans"/>
                <a:sym typeface="Canva Sans"/>
              </a:rPr>
              <a:t>LA ROOT MSE DIMINUE À 60 735, TRADUISANT UNE RÉDUCTION DE L'ERREUR DE PRÉDICTION.</a:t>
            </a:r>
          </a:p>
          <a:p>
            <a:pPr algn="just">
              <a:lnSpc>
                <a:spcPts val="3120"/>
              </a:lnSpc>
              <a:spcBef>
                <a:spcPct val="0"/>
              </a:spcBef>
            </a:pPr>
            <a:r>
              <a:rPr lang="en-US" sz="2400" spc="96">
                <a:solidFill>
                  <a:srgbClr val="FEF3EA"/>
                </a:solidFill>
                <a:latin typeface="Canva Sans"/>
                <a:ea typeface="Canva Sans"/>
                <a:cs typeface="Canva Sans"/>
                <a:sym typeface="Canva Sans"/>
              </a:rPr>
              <a:t>CES RÉSULTATS SUGGÈRENT QUE LA PRISE EN COMPTE DU NOMBRE D'ANIMAUX APPORTE UNE INFORMATION PERTINENTE POUR DÉTERMINER LE PRIX DE VENTE.</a:t>
            </a:r>
          </a:p>
        </p:txBody>
      </p:sp>
    </p:spTree>
  </p:cSld>
  <p:clrMapOvr>
    <a:masterClrMapping/>
  </p:clrMapOvr>
  <p:transition spd="fast">
    <p:push dir="l"/>
  </p:transition>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083B35"/>
        </a:solidFill>
      </p:bgPr>
    </p:bg>
    <p:spTree>
      <p:nvGrpSpPr>
        <p:cNvPr id="1" name=""/>
        <p:cNvGrpSpPr/>
        <p:nvPr/>
      </p:nvGrpSpPr>
      <p:grpSpPr>
        <a:xfrm>
          <a:off x="0" y="0"/>
          <a:ext cx="0" cy="0"/>
          <a:chOff x="0" y="0"/>
          <a:chExt cx="0" cy="0"/>
        </a:xfrm>
      </p:grpSpPr>
      <p:sp>
        <p:nvSpPr>
          <p:cNvPr name="Freeform 2" id="2"/>
          <p:cNvSpPr/>
          <p:nvPr/>
        </p:nvSpPr>
        <p:spPr>
          <a:xfrm flipH="false" flipV="false" rot="0">
            <a:off x="0" y="3254551"/>
            <a:ext cx="8249307" cy="6003749"/>
          </a:xfrm>
          <a:custGeom>
            <a:avLst/>
            <a:gdLst/>
            <a:ahLst/>
            <a:cxnLst/>
            <a:rect r="r" b="b" t="t" l="l"/>
            <a:pathLst>
              <a:path h="6003749" w="8249307">
                <a:moveTo>
                  <a:pt x="0" y="0"/>
                </a:moveTo>
                <a:lnTo>
                  <a:pt x="8249307" y="0"/>
                </a:lnTo>
                <a:lnTo>
                  <a:pt x="8249307" y="6003749"/>
                </a:lnTo>
                <a:lnTo>
                  <a:pt x="0" y="6003749"/>
                </a:lnTo>
                <a:lnTo>
                  <a:pt x="0" y="0"/>
                </a:lnTo>
                <a:close/>
              </a:path>
            </a:pathLst>
          </a:custGeom>
          <a:blipFill>
            <a:blip r:embed="rId2"/>
            <a:stretch>
              <a:fillRect l="0" t="0" r="0" b="0"/>
            </a:stretch>
          </a:blipFill>
        </p:spPr>
      </p:sp>
      <p:sp>
        <p:nvSpPr>
          <p:cNvPr name="TextBox 3" id="3"/>
          <p:cNvSpPr txBox="true"/>
          <p:nvPr/>
        </p:nvSpPr>
        <p:spPr>
          <a:xfrm rot="0">
            <a:off x="8662866" y="2833369"/>
            <a:ext cx="9231367" cy="6424931"/>
          </a:xfrm>
          <a:prstGeom prst="rect">
            <a:avLst/>
          </a:prstGeom>
        </p:spPr>
        <p:txBody>
          <a:bodyPr anchor="t" rtlCol="false" tIns="0" lIns="0" bIns="0" rIns="0">
            <a:spAutoFit/>
          </a:bodyPr>
          <a:lstStyle/>
          <a:p>
            <a:pPr algn="just">
              <a:lnSpc>
                <a:spcPts val="3919"/>
              </a:lnSpc>
              <a:spcBef>
                <a:spcPct val="0"/>
              </a:spcBef>
            </a:pPr>
            <a:r>
              <a:rPr lang="en-US" sz="2799">
                <a:solidFill>
                  <a:srgbClr val="FFFFFF"/>
                </a:solidFill>
                <a:latin typeface="Canva Sans"/>
                <a:ea typeface="Canva Sans"/>
                <a:cs typeface="Canva Sans"/>
                <a:sym typeface="Canva Sans"/>
              </a:rPr>
              <a:t>Pour effectuer ce calcul, nous avons besoin de la taille du ménage, disponible dans la base FT_cleaned.dta. Ainsi, nous allons fusionner la base actuelle (emigration_cleaned.dta) avec cette dernière en utilisant la variable ID comme clé de correspondance.</a:t>
            </a:r>
          </a:p>
          <a:p>
            <a:pPr algn="just">
              <a:lnSpc>
                <a:spcPts val="3919"/>
              </a:lnSpc>
              <a:spcBef>
                <a:spcPct val="0"/>
              </a:spcBef>
            </a:pPr>
            <a:r>
              <a:rPr lang="en-US" sz="2799">
                <a:solidFill>
                  <a:srgbClr val="FFFFFF"/>
                </a:solidFill>
                <a:latin typeface="Canva Sans"/>
                <a:ea typeface="Canva Sans"/>
                <a:cs typeface="Canva Sans"/>
                <a:sym typeface="Canva Sans"/>
              </a:rPr>
              <a:t>L'intensité de l'émigration est la plus élevée en Mauritanie (16%) et au Niger (14%), dépassant la moyenne globale de 11,17%. En revanche, les taux d'émigration par ménage sont relativement plus faibles au Burkina Faso (10%) et au Sénégal (9%). Quant au Mali, son taux d’émigration (11%) est proche de la moyenne globale.</a:t>
            </a:r>
          </a:p>
        </p:txBody>
      </p:sp>
      <p:sp>
        <p:nvSpPr>
          <p:cNvPr name="TextBox 4" id="4"/>
          <p:cNvSpPr txBox="true"/>
          <p:nvPr/>
        </p:nvSpPr>
        <p:spPr>
          <a:xfrm rot="0">
            <a:off x="9144000" y="516255"/>
            <a:ext cx="9144000" cy="920115"/>
          </a:xfrm>
          <a:prstGeom prst="rect">
            <a:avLst/>
          </a:prstGeom>
        </p:spPr>
        <p:txBody>
          <a:bodyPr anchor="t" rtlCol="false" tIns="0" lIns="0" bIns="0" rIns="0">
            <a:spAutoFit/>
          </a:bodyPr>
          <a:lstStyle/>
          <a:p>
            <a:pPr algn="ctr">
              <a:lnSpc>
                <a:spcPts val="7559"/>
              </a:lnSpc>
            </a:pPr>
            <a:r>
              <a:rPr lang="en-US" sz="5399" b="true">
                <a:solidFill>
                  <a:srgbClr val="25BEC8"/>
                </a:solidFill>
                <a:latin typeface="Open Sans Bold"/>
                <a:ea typeface="Open Sans Bold"/>
                <a:cs typeface="Open Sans Bold"/>
                <a:sym typeface="Open Sans Bold"/>
              </a:rPr>
              <a:t>ELEVAGE ET EMIGRATION</a:t>
            </a:r>
          </a:p>
        </p:txBody>
      </p:sp>
      <p:sp>
        <p:nvSpPr>
          <p:cNvPr name="TextBox 5" id="5"/>
          <p:cNvSpPr txBox="true"/>
          <p:nvPr/>
        </p:nvSpPr>
        <p:spPr>
          <a:xfrm rot="0">
            <a:off x="70337" y="1341120"/>
            <a:ext cx="8108632" cy="887095"/>
          </a:xfrm>
          <a:prstGeom prst="rect">
            <a:avLst/>
          </a:prstGeom>
        </p:spPr>
        <p:txBody>
          <a:bodyPr anchor="t" rtlCol="false" tIns="0" lIns="0" bIns="0" rIns="0">
            <a:spAutoFit/>
          </a:bodyPr>
          <a:lstStyle/>
          <a:p>
            <a:pPr algn="ctr">
              <a:lnSpc>
                <a:spcPts val="7279"/>
              </a:lnSpc>
            </a:pPr>
            <a:r>
              <a:rPr lang="en-US" sz="5199" b="true">
                <a:solidFill>
                  <a:srgbClr val="D6B611"/>
                </a:solidFill>
                <a:latin typeface="Open Sans Bold"/>
                <a:ea typeface="Open Sans Bold"/>
                <a:cs typeface="Open Sans Bold"/>
                <a:sym typeface="Open Sans Bold"/>
              </a:rPr>
              <a:t>Intensité de l’émigration</a:t>
            </a:r>
          </a:p>
        </p:txBody>
      </p:sp>
    </p:spTree>
  </p:cSld>
  <p:clrMapOvr>
    <a:masterClrMapping/>
  </p:clrMapOvr>
  <p:transition spd="fast">
    <p:cover dir="d"/>
  </p:transition>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083B35"/>
        </a:solidFill>
      </p:bgPr>
    </p:bg>
    <p:spTree>
      <p:nvGrpSpPr>
        <p:cNvPr id="1" name=""/>
        <p:cNvGrpSpPr/>
        <p:nvPr/>
      </p:nvGrpSpPr>
      <p:grpSpPr>
        <a:xfrm>
          <a:off x="0" y="0"/>
          <a:ext cx="0" cy="0"/>
          <a:chOff x="0" y="0"/>
          <a:chExt cx="0" cy="0"/>
        </a:xfrm>
      </p:grpSpPr>
      <p:grpSp>
        <p:nvGrpSpPr>
          <p:cNvPr name="Group 2" id="2"/>
          <p:cNvGrpSpPr/>
          <p:nvPr/>
        </p:nvGrpSpPr>
        <p:grpSpPr>
          <a:xfrm rot="0">
            <a:off x="-8659387" y="2454706"/>
            <a:ext cx="18288000" cy="8816710"/>
            <a:chOff x="0" y="0"/>
            <a:chExt cx="4816593" cy="2322096"/>
          </a:xfrm>
        </p:grpSpPr>
        <p:sp>
          <p:nvSpPr>
            <p:cNvPr name="Freeform 3" id="3"/>
            <p:cNvSpPr/>
            <p:nvPr/>
          </p:nvSpPr>
          <p:spPr>
            <a:xfrm flipH="false" flipV="false" rot="0">
              <a:off x="0" y="0"/>
              <a:ext cx="4816592" cy="2322096"/>
            </a:xfrm>
            <a:custGeom>
              <a:avLst/>
              <a:gdLst/>
              <a:ahLst/>
              <a:cxnLst/>
              <a:rect r="r" b="b" t="t" l="l"/>
              <a:pathLst>
                <a:path h="2322096" w="4816592">
                  <a:moveTo>
                    <a:pt x="42333" y="0"/>
                  </a:moveTo>
                  <a:lnTo>
                    <a:pt x="4774259" y="0"/>
                  </a:lnTo>
                  <a:cubicBezTo>
                    <a:pt x="4785487" y="0"/>
                    <a:pt x="4796254" y="4460"/>
                    <a:pt x="4804193" y="12399"/>
                  </a:cubicBezTo>
                  <a:cubicBezTo>
                    <a:pt x="4812132" y="20338"/>
                    <a:pt x="4816592" y="31106"/>
                    <a:pt x="4816592" y="42333"/>
                  </a:cubicBezTo>
                  <a:lnTo>
                    <a:pt x="4816592" y="2279763"/>
                  </a:lnTo>
                  <a:cubicBezTo>
                    <a:pt x="4816592" y="2290991"/>
                    <a:pt x="4812132" y="2301758"/>
                    <a:pt x="4804193" y="2309697"/>
                  </a:cubicBezTo>
                  <a:cubicBezTo>
                    <a:pt x="4796254" y="2317636"/>
                    <a:pt x="4785487" y="2322096"/>
                    <a:pt x="4774259" y="2322096"/>
                  </a:cubicBezTo>
                  <a:lnTo>
                    <a:pt x="42333" y="2322096"/>
                  </a:lnTo>
                  <a:cubicBezTo>
                    <a:pt x="31106" y="2322096"/>
                    <a:pt x="20338" y="2317636"/>
                    <a:pt x="12399" y="2309697"/>
                  </a:cubicBezTo>
                  <a:cubicBezTo>
                    <a:pt x="4460" y="2301758"/>
                    <a:pt x="0" y="2290991"/>
                    <a:pt x="0" y="2279763"/>
                  </a:cubicBezTo>
                  <a:lnTo>
                    <a:pt x="0" y="42333"/>
                  </a:lnTo>
                  <a:cubicBezTo>
                    <a:pt x="0" y="31106"/>
                    <a:pt x="4460" y="20338"/>
                    <a:pt x="12399" y="12399"/>
                  </a:cubicBezTo>
                  <a:cubicBezTo>
                    <a:pt x="20338" y="4460"/>
                    <a:pt x="31106" y="0"/>
                    <a:pt x="42333" y="0"/>
                  </a:cubicBezTo>
                  <a:close/>
                </a:path>
              </a:pathLst>
            </a:custGeom>
            <a:solidFill>
              <a:srgbClr val="124B44"/>
            </a:solidFill>
          </p:spPr>
        </p:sp>
        <p:sp>
          <p:nvSpPr>
            <p:cNvPr name="TextBox 4" id="4"/>
            <p:cNvSpPr txBox="true"/>
            <p:nvPr/>
          </p:nvSpPr>
          <p:spPr>
            <a:xfrm>
              <a:off x="0" y="-38100"/>
              <a:ext cx="4816593" cy="2360196"/>
            </a:xfrm>
            <a:prstGeom prst="rect">
              <a:avLst/>
            </a:prstGeom>
          </p:spPr>
          <p:txBody>
            <a:bodyPr anchor="ctr" rtlCol="false" tIns="50800" lIns="50800" bIns="50800" rIns="50800"/>
            <a:lstStyle/>
            <a:p>
              <a:pPr algn="ctr">
                <a:lnSpc>
                  <a:spcPts val="2659"/>
                </a:lnSpc>
                <a:spcBef>
                  <a:spcPct val="0"/>
                </a:spcBef>
              </a:pPr>
            </a:p>
          </p:txBody>
        </p:sp>
      </p:grpSp>
      <p:sp>
        <p:nvSpPr>
          <p:cNvPr name="Freeform 5" id="5"/>
          <p:cNvSpPr/>
          <p:nvPr/>
        </p:nvSpPr>
        <p:spPr>
          <a:xfrm flipH="false" flipV="false" rot="0">
            <a:off x="0" y="3169253"/>
            <a:ext cx="9144000" cy="6688183"/>
          </a:xfrm>
          <a:custGeom>
            <a:avLst/>
            <a:gdLst/>
            <a:ahLst/>
            <a:cxnLst/>
            <a:rect r="r" b="b" t="t" l="l"/>
            <a:pathLst>
              <a:path h="6688183" w="9144000">
                <a:moveTo>
                  <a:pt x="0" y="0"/>
                </a:moveTo>
                <a:lnTo>
                  <a:pt x="9144000" y="0"/>
                </a:lnTo>
                <a:lnTo>
                  <a:pt x="9144000" y="6688183"/>
                </a:lnTo>
                <a:lnTo>
                  <a:pt x="0" y="6688183"/>
                </a:lnTo>
                <a:lnTo>
                  <a:pt x="0" y="0"/>
                </a:lnTo>
                <a:close/>
              </a:path>
            </a:pathLst>
          </a:custGeom>
          <a:blipFill>
            <a:blip r:embed="rId2"/>
            <a:stretch>
              <a:fillRect l="0" t="0" r="0" b="0"/>
            </a:stretch>
          </a:blipFill>
        </p:spPr>
      </p:sp>
      <p:sp>
        <p:nvSpPr>
          <p:cNvPr name="TextBox 6" id="6"/>
          <p:cNvSpPr txBox="true"/>
          <p:nvPr/>
        </p:nvSpPr>
        <p:spPr>
          <a:xfrm rot="0">
            <a:off x="10123479" y="1456385"/>
            <a:ext cx="7780440" cy="8401051"/>
          </a:xfrm>
          <a:prstGeom prst="rect">
            <a:avLst/>
          </a:prstGeom>
        </p:spPr>
        <p:txBody>
          <a:bodyPr anchor="t" rtlCol="false" tIns="0" lIns="0" bIns="0" rIns="0">
            <a:spAutoFit/>
          </a:bodyPr>
          <a:lstStyle/>
          <a:p>
            <a:pPr algn="just">
              <a:lnSpc>
                <a:spcPts val="4499"/>
              </a:lnSpc>
            </a:pPr>
            <a:r>
              <a:rPr lang="en-US" sz="2999">
                <a:solidFill>
                  <a:srgbClr val="FFFFFF"/>
                </a:solidFill>
                <a:latin typeface="TT Interphases"/>
                <a:ea typeface="TT Interphases"/>
                <a:cs typeface="TT Interphases"/>
                <a:sym typeface="TT Interphases"/>
              </a:rPr>
              <a:t>L’analyse des destinations principales des émigrés montre que la majorité d’entre eux restent dans leur pays d’origine (36,81%), tandis qu’une part importante migre vers les pays côtiers de la région (26,92%). L’émigration vers d’autres zones sahéliennes représente également une part non négligeable (18,68%). En revanche, les destinations plus éloignées, comme l’Europe et les États-Unis (7,14%), l’Afrique du Nord (5,49%) et l’Afrique centrale (4,95%), restent minoritaires. Cette répartition met en évidence une mobilité principalement intra-régionale, avec une migration hors du continent relativement faible.</a:t>
            </a:r>
          </a:p>
        </p:txBody>
      </p:sp>
      <p:sp>
        <p:nvSpPr>
          <p:cNvPr name="TextBox 7" id="7"/>
          <p:cNvSpPr txBox="true"/>
          <p:nvPr/>
        </p:nvSpPr>
        <p:spPr>
          <a:xfrm rot="0">
            <a:off x="484613" y="1000125"/>
            <a:ext cx="6846911" cy="1163955"/>
          </a:xfrm>
          <a:prstGeom prst="rect">
            <a:avLst/>
          </a:prstGeom>
        </p:spPr>
        <p:txBody>
          <a:bodyPr anchor="t" rtlCol="false" tIns="0" lIns="0" bIns="0" rIns="0">
            <a:spAutoFit/>
          </a:bodyPr>
          <a:lstStyle/>
          <a:p>
            <a:pPr algn="l">
              <a:lnSpc>
                <a:spcPts val="4679"/>
              </a:lnSpc>
            </a:pPr>
            <a:r>
              <a:rPr lang="en-US" sz="3599" spc="143">
                <a:solidFill>
                  <a:srgbClr val="D6B611"/>
                </a:solidFill>
                <a:latin typeface="League Spartan"/>
                <a:ea typeface="League Spartan"/>
                <a:cs typeface="League Spartan"/>
                <a:sym typeface="League Spartan"/>
              </a:rPr>
              <a:t>DESTINATIONS PRINCIPALES DES EMIGRES</a:t>
            </a:r>
          </a:p>
        </p:txBody>
      </p:sp>
    </p:spTree>
  </p:cSld>
  <p:clrMapOvr>
    <a:masterClrMapping/>
  </p:clrMapOvr>
  <p:transition spd="fast">
    <p:fade/>
  </p:transition>
</p:sld>
</file>

<file path=ppt/slides/slide15.xml><?xml version="1.0" encoding="utf-8"?>
<p:sld xmlns:p="http://schemas.openxmlformats.org/presentationml/2006/main" xmlns:a="http://schemas.openxmlformats.org/drawingml/2006/main">
  <p:cSld>
    <p:bg>
      <p:bgPr>
        <a:solidFill>
          <a:srgbClr val="083B35"/>
        </a:solidFill>
      </p:bgPr>
    </p:bg>
    <p:spTree>
      <p:nvGrpSpPr>
        <p:cNvPr id="1" name=""/>
        <p:cNvGrpSpPr/>
        <p:nvPr/>
      </p:nvGrpSpPr>
      <p:grpSpPr>
        <a:xfrm>
          <a:off x="0" y="0"/>
          <a:ext cx="0" cy="0"/>
          <a:chOff x="0" y="0"/>
          <a:chExt cx="0" cy="0"/>
        </a:xfrm>
      </p:grpSpPr>
      <p:sp>
        <p:nvSpPr>
          <p:cNvPr name="TextBox 2" id="2"/>
          <p:cNvSpPr txBox="true"/>
          <p:nvPr/>
        </p:nvSpPr>
        <p:spPr>
          <a:xfrm rot="0">
            <a:off x="559547" y="640818"/>
            <a:ext cx="17130602" cy="514350"/>
          </a:xfrm>
          <a:prstGeom prst="rect">
            <a:avLst/>
          </a:prstGeom>
        </p:spPr>
        <p:txBody>
          <a:bodyPr anchor="t" rtlCol="false" tIns="0" lIns="0" bIns="0" rIns="0">
            <a:spAutoFit/>
          </a:bodyPr>
          <a:lstStyle/>
          <a:p>
            <a:pPr algn="l">
              <a:lnSpc>
                <a:spcPts val="4071"/>
              </a:lnSpc>
            </a:pPr>
            <a:r>
              <a:rPr lang="en-US" sz="3392" spc="67">
                <a:solidFill>
                  <a:srgbClr val="D6B611"/>
                </a:solidFill>
                <a:latin typeface="League Spartan"/>
                <a:ea typeface="League Spartan"/>
                <a:cs typeface="League Spartan"/>
                <a:sym typeface="League Spartan"/>
              </a:rPr>
              <a:t>CORRELER L’INTENSITE DE L’EMIGRATION ET L’INDICATEUR DE VIABILITE</a:t>
            </a:r>
          </a:p>
        </p:txBody>
      </p:sp>
      <p:grpSp>
        <p:nvGrpSpPr>
          <p:cNvPr name="Group 3" id="3"/>
          <p:cNvGrpSpPr/>
          <p:nvPr/>
        </p:nvGrpSpPr>
        <p:grpSpPr>
          <a:xfrm rot="0">
            <a:off x="559547" y="1778439"/>
            <a:ext cx="18449703" cy="9664743"/>
            <a:chOff x="0" y="0"/>
            <a:chExt cx="4859181" cy="2545447"/>
          </a:xfrm>
        </p:grpSpPr>
        <p:sp>
          <p:nvSpPr>
            <p:cNvPr name="Freeform 4" id="4"/>
            <p:cNvSpPr/>
            <p:nvPr/>
          </p:nvSpPr>
          <p:spPr>
            <a:xfrm flipH="false" flipV="false" rot="0">
              <a:off x="0" y="0"/>
              <a:ext cx="4859181" cy="2545447"/>
            </a:xfrm>
            <a:custGeom>
              <a:avLst/>
              <a:gdLst/>
              <a:ahLst/>
              <a:cxnLst/>
              <a:rect r="r" b="b" t="t" l="l"/>
              <a:pathLst>
                <a:path h="2545447" w="4859181">
                  <a:moveTo>
                    <a:pt x="41962" y="0"/>
                  </a:moveTo>
                  <a:lnTo>
                    <a:pt x="4817219" y="0"/>
                  </a:lnTo>
                  <a:cubicBezTo>
                    <a:pt x="4828348" y="0"/>
                    <a:pt x="4839021" y="4421"/>
                    <a:pt x="4846891" y="12290"/>
                  </a:cubicBezTo>
                  <a:cubicBezTo>
                    <a:pt x="4854760" y="20160"/>
                    <a:pt x="4859181" y="30833"/>
                    <a:pt x="4859181" y="41962"/>
                  </a:cubicBezTo>
                  <a:lnTo>
                    <a:pt x="4859181" y="2503484"/>
                  </a:lnTo>
                  <a:cubicBezTo>
                    <a:pt x="4859181" y="2526660"/>
                    <a:pt x="4840394" y="2545447"/>
                    <a:pt x="4817219" y="2545447"/>
                  </a:cubicBezTo>
                  <a:lnTo>
                    <a:pt x="41962" y="2545447"/>
                  </a:lnTo>
                  <a:cubicBezTo>
                    <a:pt x="30833" y="2545447"/>
                    <a:pt x="20160" y="2541026"/>
                    <a:pt x="12290" y="2533156"/>
                  </a:cubicBezTo>
                  <a:cubicBezTo>
                    <a:pt x="4421" y="2525287"/>
                    <a:pt x="0" y="2514614"/>
                    <a:pt x="0" y="2503484"/>
                  </a:cubicBezTo>
                  <a:lnTo>
                    <a:pt x="0" y="41962"/>
                  </a:lnTo>
                  <a:cubicBezTo>
                    <a:pt x="0" y="30833"/>
                    <a:pt x="4421" y="20160"/>
                    <a:pt x="12290" y="12290"/>
                  </a:cubicBezTo>
                  <a:cubicBezTo>
                    <a:pt x="20160" y="4421"/>
                    <a:pt x="30833" y="0"/>
                    <a:pt x="41962" y="0"/>
                  </a:cubicBezTo>
                  <a:close/>
                </a:path>
              </a:pathLst>
            </a:custGeom>
            <a:solidFill>
              <a:srgbClr val="124B44"/>
            </a:solidFill>
          </p:spPr>
        </p:sp>
        <p:sp>
          <p:nvSpPr>
            <p:cNvPr name="TextBox 5" id="5"/>
            <p:cNvSpPr txBox="true"/>
            <p:nvPr/>
          </p:nvSpPr>
          <p:spPr>
            <a:xfrm>
              <a:off x="0" y="-38100"/>
              <a:ext cx="4859181" cy="2583547"/>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898766" y="2577872"/>
            <a:ext cx="16230600" cy="1333175"/>
          </a:xfrm>
          <a:prstGeom prst="rect">
            <a:avLst/>
          </a:prstGeom>
        </p:spPr>
        <p:txBody>
          <a:bodyPr anchor="t" rtlCol="false" tIns="0" lIns="0" bIns="0" rIns="0">
            <a:spAutoFit/>
          </a:bodyPr>
          <a:lstStyle/>
          <a:p>
            <a:pPr algn="just">
              <a:lnSpc>
                <a:spcPts val="3534"/>
              </a:lnSpc>
            </a:pPr>
            <a:r>
              <a:rPr lang="en-US" sz="2356">
                <a:solidFill>
                  <a:srgbClr val="FFFFFF"/>
                </a:solidFill>
                <a:latin typeface="TT Interphases"/>
                <a:ea typeface="TT Interphases"/>
                <a:cs typeface="TT Interphases"/>
                <a:sym typeface="TT Interphases"/>
              </a:rPr>
              <a:t>Le coefficient de corrélation de 0,3834 (p &lt; 1%) met en évidence une relation positive modérée entre la viabilité de l’élevage (UBT/EA) et l’intensité de l’émigration. Cela suggère que dans les ménages où l’élevage est plus viable, l’émigration a tendance à être plus forte, révélant ainsi un lien significatif entre ces deux variables.</a:t>
            </a:r>
          </a:p>
        </p:txBody>
      </p:sp>
      <p:sp>
        <p:nvSpPr>
          <p:cNvPr name="TextBox 7" id="7"/>
          <p:cNvSpPr txBox="true"/>
          <p:nvPr/>
        </p:nvSpPr>
        <p:spPr>
          <a:xfrm rot="0">
            <a:off x="1044016" y="7044203"/>
            <a:ext cx="8840249" cy="441546"/>
          </a:xfrm>
          <a:prstGeom prst="rect">
            <a:avLst/>
          </a:prstGeom>
        </p:spPr>
        <p:txBody>
          <a:bodyPr anchor="t" rtlCol="false" tIns="0" lIns="0" bIns="0" rIns="0">
            <a:spAutoFit/>
          </a:bodyPr>
          <a:lstStyle/>
          <a:p>
            <a:pPr algn="l">
              <a:lnSpc>
                <a:spcPts val="3552"/>
              </a:lnSpc>
            </a:pPr>
            <a:r>
              <a:rPr lang="en-US" sz="2732" spc="81">
                <a:solidFill>
                  <a:srgbClr val="25BEC8"/>
                </a:solidFill>
                <a:latin typeface="League Spartan"/>
                <a:ea typeface="League Spartan"/>
                <a:cs typeface="League Spartan"/>
                <a:sym typeface="League Spartan"/>
              </a:rPr>
              <a:t>IMPUTATION PAR REGRESSION MULTIPLE</a:t>
            </a:r>
          </a:p>
        </p:txBody>
      </p:sp>
      <p:sp>
        <p:nvSpPr>
          <p:cNvPr name="AutoShape 8" id="8"/>
          <p:cNvSpPr/>
          <p:nvPr/>
        </p:nvSpPr>
        <p:spPr>
          <a:xfrm rot="0">
            <a:off x="898766" y="4140382"/>
            <a:ext cx="7625044" cy="52393"/>
          </a:xfrm>
          <a:prstGeom prst="rect">
            <a:avLst/>
          </a:prstGeom>
          <a:solidFill>
            <a:srgbClr val="FFFFFF">
              <a:alpha val="19608"/>
            </a:srgbClr>
          </a:solidFill>
        </p:spPr>
      </p:sp>
      <p:sp>
        <p:nvSpPr>
          <p:cNvPr name="TextBox 9" id="9"/>
          <p:cNvSpPr txBox="true"/>
          <p:nvPr/>
        </p:nvSpPr>
        <p:spPr>
          <a:xfrm rot="0">
            <a:off x="898766" y="4828715"/>
            <a:ext cx="16661449" cy="1782095"/>
          </a:xfrm>
          <a:prstGeom prst="rect">
            <a:avLst/>
          </a:prstGeom>
        </p:spPr>
        <p:txBody>
          <a:bodyPr anchor="t" rtlCol="false" tIns="0" lIns="0" bIns="0" rIns="0">
            <a:spAutoFit/>
          </a:bodyPr>
          <a:lstStyle/>
          <a:p>
            <a:pPr algn="just">
              <a:lnSpc>
                <a:spcPts val="3534"/>
              </a:lnSpc>
            </a:pPr>
            <a:r>
              <a:rPr lang="en-US" sz="2356">
                <a:solidFill>
                  <a:srgbClr val="FFFFFF"/>
                </a:solidFill>
                <a:latin typeface="TT Interphases"/>
                <a:ea typeface="TT Interphases"/>
                <a:cs typeface="TT Interphases"/>
                <a:sym typeface="TT Interphases"/>
              </a:rPr>
              <a:t>L'analyse de Spearman montre une corrélation positive faible (𝑟 = 0,2459, p = 0,0016) entre la viabilité de l’élevage (UBT/EA) et l’intensité de l’émigration, significative au seuil de 5%. Cela suggère qu’une meilleure viabilité de l’élevage est associée à une migration légèrement plus élevée, bien que d’autres facteurs structurels influencent ce phénomène. Ce coefficient est privilégié pour sa robustesse aux outliers et son indépendance aux hypothèses de distribution.</a:t>
            </a:r>
          </a:p>
        </p:txBody>
      </p:sp>
      <p:sp>
        <p:nvSpPr>
          <p:cNvPr name="AutoShape 10" id="10"/>
          <p:cNvSpPr/>
          <p:nvPr/>
        </p:nvSpPr>
        <p:spPr>
          <a:xfrm rot="0">
            <a:off x="898766" y="6839410"/>
            <a:ext cx="7625044" cy="52393"/>
          </a:xfrm>
          <a:prstGeom prst="rect">
            <a:avLst/>
          </a:prstGeom>
          <a:solidFill>
            <a:srgbClr val="FFFFFF">
              <a:alpha val="19608"/>
            </a:srgbClr>
          </a:solidFill>
        </p:spPr>
      </p:sp>
      <p:sp>
        <p:nvSpPr>
          <p:cNvPr name="TextBox 11" id="11"/>
          <p:cNvSpPr txBox="true"/>
          <p:nvPr/>
        </p:nvSpPr>
        <p:spPr>
          <a:xfrm rot="0">
            <a:off x="768832" y="7590524"/>
            <a:ext cx="16921316" cy="2679934"/>
          </a:xfrm>
          <a:prstGeom prst="rect">
            <a:avLst/>
          </a:prstGeom>
        </p:spPr>
        <p:txBody>
          <a:bodyPr anchor="t" rtlCol="false" tIns="0" lIns="0" bIns="0" rIns="0">
            <a:spAutoFit/>
          </a:bodyPr>
          <a:lstStyle/>
          <a:p>
            <a:pPr algn="just">
              <a:lnSpc>
                <a:spcPts val="3534"/>
              </a:lnSpc>
            </a:pPr>
            <a:r>
              <a:rPr lang="en-US" sz="2356">
                <a:solidFill>
                  <a:srgbClr val="FFFFFF"/>
                </a:solidFill>
                <a:latin typeface="TT Interphases"/>
                <a:ea typeface="TT Interphases"/>
                <a:cs typeface="TT Interphases"/>
                <a:sym typeface="TT Interphases"/>
              </a:rPr>
              <a:t>La méthode des imputations multiples permet d'estimer de manière robuste les valeurs manquantes en tenant compte des relations entre UBT_par_EA et l'intensité de l’émigration. En générant cinq variables imputées par observation, elle améliore la précision des estimations tout en conservant les relations statistiques existantes.</a:t>
            </a:r>
          </a:p>
          <a:p>
            <a:pPr algn="just">
              <a:lnSpc>
                <a:spcPts val="3534"/>
              </a:lnSpc>
            </a:pPr>
            <a:r>
              <a:rPr lang="en-US" sz="2356">
                <a:solidFill>
                  <a:srgbClr val="FFFFFF"/>
                </a:solidFill>
                <a:latin typeface="TT Interphases"/>
                <a:ea typeface="TT Interphases"/>
                <a:cs typeface="TT Interphases"/>
                <a:sym typeface="TT Interphases"/>
              </a:rPr>
              <a:t>Les résultats indiquent une corrélation positive modérée (0,40 à 0,47 selon les imputations), confirmant l’impact de UBT_par_EA sur l’émigration. Cette approche renforce la fiabilité de l’analyse, en exploitant les informations disponibles entre les variables.</a:t>
            </a:r>
          </a:p>
          <a:p>
            <a:pPr algn="just">
              <a:lnSpc>
                <a:spcPts val="3534"/>
              </a:lnSpc>
            </a:pPr>
          </a:p>
        </p:txBody>
      </p:sp>
      <p:sp>
        <p:nvSpPr>
          <p:cNvPr name="TextBox 12" id="12"/>
          <p:cNvSpPr txBox="true"/>
          <p:nvPr/>
        </p:nvSpPr>
        <p:spPr>
          <a:xfrm rot="0">
            <a:off x="1044016" y="4392800"/>
            <a:ext cx="7609728" cy="441546"/>
          </a:xfrm>
          <a:prstGeom prst="rect">
            <a:avLst/>
          </a:prstGeom>
        </p:spPr>
        <p:txBody>
          <a:bodyPr anchor="t" rtlCol="false" tIns="0" lIns="0" bIns="0" rIns="0">
            <a:spAutoFit/>
          </a:bodyPr>
          <a:lstStyle/>
          <a:p>
            <a:pPr algn="l">
              <a:lnSpc>
                <a:spcPts val="3552"/>
              </a:lnSpc>
            </a:pPr>
            <a:r>
              <a:rPr lang="en-US" sz="2732" spc="81">
                <a:solidFill>
                  <a:srgbClr val="25BEC8"/>
                </a:solidFill>
                <a:latin typeface="League Spartan"/>
                <a:ea typeface="League Spartan"/>
                <a:cs typeface="League Spartan"/>
                <a:sym typeface="League Spartan"/>
              </a:rPr>
              <a:t>CORRELATION DE SPEARMAN</a:t>
            </a:r>
          </a:p>
        </p:txBody>
      </p:sp>
      <p:sp>
        <p:nvSpPr>
          <p:cNvPr name="TextBox 13" id="13"/>
          <p:cNvSpPr txBox="true"/>
          <p:nvPr/>
        </p:nvSpPr>
        <p:spPr>
          <a:xfrm rot="0">
            <a:off x="1044016" y="2030817"/>
            <a:ext cx="7609728" cy="441546"/>
          </a:xfrm>
          <a:prstGeom prst="rect">
            <a:avLst/>
          </a:prstGeom>
        </p:spPr>
        <p:txBody>
          <a:bodyPr anchor="t" rtlCol="false" tIns="0" lIns="0" bIns="0" rIns="0">
            <a:spAutoFit/>
          </a:bodyPr>
          <a:lstStyle/>
          <a:p>
            <a:pPr algn="l">
              <a:lnSpc>
                <a:spcPts val="3552"/>
              </a:lnSpc>
            </a:pPr>
            <a:r>
              <a:rPr lang="en-US" sz="2732" spc="81">
                <a:solidFill>
                  <a:srgbClr val="25BEC8"/>
                </a:solidFill>
                <a:latin typeface="League Spartan"/>
                <a:ea typeface="League Spartan"/>
                <a:cs typeface="League Spartan"/>
                <a:sym typeface="League Spartan"/>
              </a:rPr>
              <a:t>CORRELATION DE PEARSON</a:t>
            </a:r>
          </a:p>
        </p:txBody>
      </p:sp>
    </p:spTree>
  </p:cSld>
  <p:clrMapOvr>
    <a:masterClrMapping/>
  </p:clrMapOvr>
  <p:transition spd="slow">
    <p:push dir="l"/>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DAGdfpFnLzg</dc:identifier>
  <dcterms:modified xsi:type="dcterms:W3CDTF">2011-08-01T06:04:30Z</dcterms:modified>
  <cp:revision>1</cp:revision>
  <dc:title>ECOLE NATIONALE DE LA STATISTIQUE ET DE L’ANALYSE ECONOMIQUE</dc:title>
</cp:coreProperties>
</file>